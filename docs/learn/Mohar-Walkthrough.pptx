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One line: we do not stop leaks, we make it impossible to hide who held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the leak is not a break-in, it is a betrayal by someone authorised.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Land the third hardest: it is a permission that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middle four hops. That is where papers actually go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tamper-detecting. It refuses rather than opening to rubbish.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demo, two shares genuinely fail. The library refuses; we did not write a branch that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is genuinely preventive rather than detective, this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blockchain line before a judge asks it. It reads as a decision, not an omission.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stretch where papers actually go missing, and the stretch a register describes worst.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heartbeat is the asymmetry: silence is itself an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 privacy answer. There is no biometric in the database to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limit yourself. It buys credibility for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about the two grey checks. That answer is the strongest moment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content-hash check: this is the document that was sealed, not merely one that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Trigger the failed attempt live. The photo and reason land on the Failed Attempts page without a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honest limit, then the last line. Do not skip the limit — it is what makes the rest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open if a judge stops you on a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4"/>
        </a:solidFill>
      </p:bgPr>
    </p:bg>
    <p:spTree>
      <p:nvGrpSpPr>
        <p:cNvPr id="1" name=""/>
        <p:cNvGrpSpPr/>
        <p:nvPr/>
      </p:nvGrpSpPr>
      <p:grpSpPr>
        <a:xfrm>
          <a:off x="0" y="0"/>
          <a:ext cx="0" cy="0"/>
          <a:chOff x="0" y="0"/>
          <a:chExt cx="0" cy="0"/>
        </a:xfrm>
      </p:grpSpPr>
      <p:sp>
        <p:nvSpPr>
          <p:cNvPr id="2" name="Text 0"/>
          <p:cNvSpPr/>
          <p:nvPr/>
        </p:nvSpPr>
        <p:spPr>
          <a:xfrm>
            <a:off x="502920" y="1417320"/>
            <a:ext cx="11155680" cy="365760"/>
          </a:xfrm>
          <a:prstGeom prst="rect">
            <a:avLst/>
          </a:prstGeom>
          <a:noFill/>
          <a:ln/>
        </p:spPr>
        <p:txBody>
          <a:bodyPr wrap="square" lIns="0" tIns="0" rIns="0" bIns="0" rtlCol="0" anchor="ctr"/>
          <a:lstStyle/>
          <a:p>
            <a:pPr indent="0" marL="0">
              <a:buNone/>
            </a:pPr>
            <a:r>
              <a:rPr lang="en-US" sz="1300" spc="600" kern="0" dirty="0">
                <a:solidFill>
                  <a:srgbClr val="B79BE0"/>
                </a:solidFill>
                <a:latin typeface="Courier New" pitchFamily="34" charset="0"/>
                <a:ea typeface="Courier New" pitchFamily="34" charset="-122"/>
                <a:cs typeface="Courier New" pitchFamily="34" charset="-120"/>
              </a:rPr>
              <a:t>MOHAR</a:t>
            </a:r>
            <a:endParaRPr lang="en-US" sz="1300" dirty="0"/>
          </a:p>
        </p:txBody>
      </p:sp>
      <p:sp>
        <p:nvSpPr>
          <p:cNvPr id="3" name="Text 1"/>
          <p:cNvSpPr/>
          <p:nvPr/>
        </p:nvSpPr>
        <p:spPr>
          <a:xfrm>
            <a:off x="502920" y="1874520"/>
            <a:ext cx="8595360" cy="1920240"/>
          </a:xfrm>
          <a:prstGeom prst="rect">
            <a:avLst/>
          </a:prstGeom>
          <a:noFill/>
          <a:ln/>
        </p:spPr>
        <p:txBody>
          <a:bodyPr wrap="square" lIns="0" tIns="0" rIns="0" bIns="0" rtlCol="0" anchor="t"/>
          <a:lstStyle/>
          <a:p>
            <a:pPr indent="0" marL="0">
              <a:lnSpc>
                <a:spcPct val="102000"/>
              </a:lnSpc>
              <a:buNone/>
            </a:pPr>
            <a:r>
              <a:rPr lang="en-US" sz="4600" dirty="0">
                <a:solidFill>
                  <a:srgbClr val="E8ECF2"/>
                </a:solidFill>
                <a:latin typeface="Cambria" pitchFamily="34" charset="0"/>
                <a:ea typeface="Cambria" pitchFamily="34" charset="-122"/>
                <a:cs typeface="Cambria" pitchFamily="34" charset="-120"/>
              </a:rPr>
              <a:t>How we prove who held</a:t>
            </a:r>
            <a:endParaRPr lang="en-US" sz="4600" dirty="0"/>
          </a:p>
          <a:p>
            <a:pPr indent="0" marL="0">
              <a:lnSpc>
                <a:spcPct val="102000"/>
              </a:lnSpc>
              <a:buNone/>
            </a:pPr>
            <a:r>
              <a:rPr lang="en-US" sz="4600" dirty="0">
                <a:solidFill>
                  <a:srgbClr val="E8ECF2"/>
                </a:solidFill>
                <a:latin typeface="Cambria" pitchFamily="34" charset="0"/>
                <a:ea typeface="Cambria" pitchFamily="34" charset="-122"/>
                <a:cs typeface="Cambria" pitchFamily="34" charset="-120"/>
              </a:rPr>
              <a:t>the exam paper.</a:t>
            </a:r>
            <a:endParaRPr lang="en-US" sz="4600" dirty="0"/>
          </a:p>
        </p:txBody>
      </p:sp>
      <p:sp>
        <p:nvSpPr>
          <p:cNvPr id="4" name="Text 2"/>
          <p:cNvSpPr/>
          <p:nvPr/>
        </p:nvSpPr>
        <p:spPr>
          <a:xfrm>
            <a:off x="502920" y="3931920"/>
            <a:ext cx="7498080" cy="822960"/>
          </a:xfrm>
          <a:prstGeom prst="rect">
            <a:avLst/>
          </a:prstGeom>
          <a:noFill/>
          <a:ln/>
        </p:spPr>
        <p:txBody>
          <a:bodyPr wrap="square" lIns="0" tIns="0" rIns="0" bIns="0" rtlCol="0" anchor="ctr"/>
          <a:lstStyle/>
          <a:p>
            <a:pPr indent="0" marL="0">
              <a:lnSpc>
                <a:spcPct val="120000"/>
              </a:lnSpc>
              <a:buNone/>
            </a:pPr>
            <a:r>
              <a:rPr lang="en-US" sz="1500" dirty="0">
                <a:solidFill>
                  <a:srgbClr val="A5B0BF"/>
                </a:solidFill>
                <a:latin typeface="Cambria" pitchFamily="34" charset="0"/>
                <a:ea typeface="Cambria" pitchFamily="34" charset="-122"/>
                <a:cs typeface="Cambria" pitchFamily="34" charset="-120"/>
              </a:rPr>
              <a:t>Seventeen slides, in plain language. Every technical word is explained the first time it appears — nothing here assumes you already know it.</a:t>
            </a:r>
            <a:endParaRPr lang="en-US" sz="1500" dirty="0"/>
          </a:p>
        </p:txBody>
      </p:sp>
      <p:sp>
        <p:nvSpPr>
          <p:cNvPr id="5" name="Text 3"/>
          <p:cNvSpPr/>
          <p:nvPr/>
        </p:nvSpPr>
        <p:spPr>
          <a:xfrm>
            <a:off x="502920" y="4983480"/>
            <a:ext cx="2286000" cy="274320"/>
          </a:xfrm>
          <a:prstGeom prst="rect">
            <a:avLst/>
          </a:prstGeom>
          <a:noFill/>
          <a:ln/>
        </p:spPr>
        <p:txBody>
          <a:bodyPr wrap="square" lIns="0" tIns="0" rIns="0" bIns="0" rtlCol="0" anchor="ctr"/>
          <a:lstStyle/>
          <a:p>
            <a:pPr indent="0" marL="0">
              <a:buNone/>
            </a:pPr>
            <a:r>
              <a:rPr lang="en-US" sz="900" spc="120" kern="0" dirty="0">
                <a:solidFill>
                  <a:srgbClr val="B79BE0"/>
                </a:solidFill>
                <a:latin typeface="Courier New" pitchFamily="34" charset="0"/>
                <a:ea typeface="Courier New" pitchFamily="34" charset="-122"/>
                <a:cs typeface="Courier New" pitchFamily="34" charset="-120"/>
              </a:rPr>
              <a:t>WHAT THIS IS</a:t>
            </a:r>
            <a:endParaRPr lang="en-US" sz="900" dirty="0"/>
          </a:p>
        </p:txBody>
      </p:sp>
      <p:sp>
        <p:nvSpPr>
          <p:cNvPr id="6" name="Text 4"/>
          <p:cNvSpPr/>
          <p:nvPr/>
        </p:nvSpPr>
        <p:spPr>
          <a:xfrm>
            <a:off x="2880360" y="4983480"/>
            <a:ext cx="7772400" cy="274320"/>
          </a:xfrm>
          <a:prstGeom prst="rect">
            <a:avLst/>
          </a:prstGeom>
          <a:noFill/>
          <a:ln/>
        </p:spPr>
        <p:txBody>
          <a:bodyPr wrap="square" lIns="0" tIns="0" rIns="0" bIns="0" rtlCol="0" anchor="ctr"/>
          <a:lstStyle/>
          <a:p>
            <a:pPr indent="0" marL="0">
              <a:buNone/>
            </a:pPr>
            <a:r>
              <a:rPr lang="en-US" sz="1200" dirty="0">
                <a:solidFill>
                  <a:srgbClr val="A5B0BF"/>
                </a:solidFill>
                <a:latin typeface="Calibri" pitchFamily="34" charset="0"/>
                <a:ea typeface="Calibri" pitchFamily="34" charset="-122"/>
                <a:cs typeface="Calibri" pitchFamily="34" charset="-120"/>
              </a:rPr>
              <a:t>a custody record for physical question papers</a:t>
            </a:r>
            <a:endParaRPr lang="en-US" sz="1200" dirty="0"/>
          </a:p>
        </p:txBody>
      </p:sp>
      <p:sp>
        <p:nvSpPr>
          <p:cNvPr id="7" name="Text 5"/>
          <p:cNvSpPr/>
          <p:nvPr/>
        </p:nvSpPr>
        <p:spPr>
          <a:xfrm>
            <a:off x="502920" y="5294376"/>
            <a:ext cx="2286000" cy="274320"/>
          </a:xfrm>
          <a:prstGeom prst="rect">
            <a:avLst/>
          </a:prstGeom>
          <a:noFill/>
          <a:ln/>
        </p:spPr>
        <p:txBody>
          <a:bodyPr wrap="square" lIns="0" tIns="0" rIns="0" bIns="0" rtlCol="0" anchor="ctr"/>
          <a:lstStyle/>
          <a:p>
            <a:pPr indent="0" marL="0">
              <a:buNone/>
            </a:pPr>
            <a:r>
              <a:rPr lang="en-US" sz="900" spc="120" kern="0" dirty="0">
                <a:solidFill>
                  <a:srgbClr val="B79BE0"/>
                </a:solidFill>
                <a:latin typeface="Courier New" pitchFamily="34" charset="0"/>
                <a:ea typeface="Courier New" pitchFamily="34" charset="-122"/>
                <a:cs typeface="Courier New" pitchFamily="34" charset="-120"/>
              </a:rPr>
              <a:t>WHERE IT RUNS</a:t>
            </a:r>
            <a:endParaRPr lang="en-US" sz="900" dirty="0"/>
          </a:p>
        </p:txBody>
      </p:sp>
      <p:sp>
        <p:nvSpPr>
          <p:cNvPr id="8" name="Text 6"/>
          <p:cNvSpPr/>
          <p:nvPr/>
        </p:nvSpPr>
        <p:spPr>
          <a:xfrm>
            <a:off x="2880360" y="5294376"/>
            <a:ext cx="7772400" cy="274320"/>
          </a:xfrm>
          <a:prstGeom prst="rect">
            <a:avLst/>
          </a:prstGeom>
          <a:noFill/>
          <a:ln/>
        </p:spPr>
        <p:txBody>
          <a:bodyPr wrap="square" lIns="0" tIns="0" rIns="0" bIns="0" rtlCol="0" anchor="ctr"/>
          <a:lstStyle/>
          <a:p>
            <a:pPr indent="0" marL="0">
              <a:buNone/>
            </a:pPr>
            <a:r>
              <a:rPr lang="en-US" sz="1200" dirty="0">
                <a:solidFill>
                  <a:srgbClr val="A5B0BF"/>
                </a:solidFill>
                <a:latin typeface="Calibri" pitchFamily="34" charset="0"/>
                <a:ea typeface="Calibri" pitchFamily="34" charset="-122"/>
                <a:cs typeface="Calibri" pitchFamily="34" charset="-120"/>
              </a:rPr>
              <a:t>the exam centre itself, with no internet</a:t>
            </a:r>
            <a:endParaRPr lang="en-US" sz="1200" dirty="0"/>
          </a:p>
        </p:txBody>
      </p:sp>
      <p:sp>
        <p:nvSpPr>
          <p:cNvPr id="9" name="Text 7"/>
          <p:cNvSpPr/>
          <p:nvPr/>
        </p:nvSpPr>
        <p:spPr>
          <a:xfrm>
            <a:off x="502920" y="5605272"/>
            <a:ext cx="2286000" cy="274320"/>
          </a:xfrm>
          <a:prstGeom prst="rect">
            <a:avLst/>
          </a:prstGeom>
          <a:noFill/>
          <a:ln/>
        </p:spPr>
        <p:txBody>
          <a:bodyPr wrap="square" lIns="0" tIns="0" rIns="0" bIns="0" rtlCol="0" anchor="ctr"/>
          <a:lstStyle/>
          <a:p>
            <a:pPr indent="0" marL="0">
              <a:buNone/>
            </a:pPr>
            <a:r>
              <a:rPr lang="en-US" sz="900" spc="120" kern="0" dirty="0">
                <a:solidFill>
                  <a:srgbClr val="B79BE0"/>
                </a:solidFill>
                <a:latin typeface="Courier New" pitchFamily="34" charset="0"/>
                <a:ea typeface="Courier New" pitchFamily="34" charset="-122"/>
                <a:cs typeface="Courier New" pitchFamily="34" charset="-120"/>
              </a:rPr>
              <a:t>WHAT IT REPLACES</a:t>
            </a:r>
            <a:endParaRPr lang="en-US" sz="900" dirty="0"/>
          </a:p>
        </p:txBody>
      </p:sp>
      <p:sp>
        <p:nvSpPr>
          <p:cNvPr id="10" name="Text 8"/>
          <p:cNvSpPr/>
          <p:nvPr/>
        </p:nvSpPr>
        <p:spPr>
          <a:xfrm>
            <a:off x="2880360" y="5605272"/>
            <a:ext cx="7772400" cy="274320"/>
          </a:xfrm>
          <a:prstGeom prst="rect">
            <a:avLst/>
          </a:prstGeom>
          <a:noFill/>
          <a:ln/>
        </p:spPr>
        <p:txBody>
          <a:bodyPr wrap="square" lIns="0" tIns="0" rIns="0" bIns="0" rtlCol="0" anchor="ctr"/>
          <a:lstStyle/>
          <a:p>
            <a:pPr indent="0" marL="0">
              <a:buNone/>
            </a:pPr>
            <a:r>
              <a:rPr lang="en-US" sz="1200" dirty="0">
                <a:solidFill>
                  <a:srgbClr val="A5B0BF"/>
                </a:solidFill>
                <a:latin typeface="Calibri" pitchFamily="34" charset="0"/>
                <a:ea typeface="Calibri" pitchFamily="34" charset="-122"/>
                <a:cs typeface="Calibri" pitchFamily="34" charset="-120"/>
              </a:rPr>
              <a:t>a handwritten register nobody can verify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01</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THE PROBLEM</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Papers don’t leak because someone breaks in.</a:t>
            </a:r>
            <a:endParaRPr lang="en-US" sz="3000" dirty="0"/>
          </a:p>
        </p:txBody>
      </p:sp>
      <p:sp>
        <p:nvSpPr>
          <p:cNvPr id="6" name="Text 4"/>
          <p:cNvSpPr/>
          <p:nvPr/>
        </p:nvSpPr>
        <p:spPr>
          <a:xfrm>
            <a:off x="502920" y="1965960"/>
            <a:ext cx="5577840" cy="1188720"/>
          </a:xfrm>
          <a:prstGeom prst="rect">
            <a:avLst/>
          </a:prstGeom>
          <a:noFill/>
          <a:ln/>
        </p:spPr>
        <p:txBody>
          <a:bodyPr wrap="square" lIns="0" tIns="0" rIns="0" bIns="0" rtlCol="0" anchor="t"/>
          <a:lstStyle/>
          <a:p>
            <a:pPr indent="0" marL="0">
              <a:lnSpc>
                <a:spcPct val="118000"/>
              </a:lnSpc>
              <a:buNone/>
            </a:pPr>
            <a:r>
              <a:rPr lang="en-US" sz="1800" dirty="0">
                <a:solidFill>
                  <a:srgbClr val="0F141C"/>
                </a:solidFill>
                <a:latin typeface="Cambria" pitchFamily="34" charset="0"/>
                <a:ea typeface="Cambria" pitchFamily="34" charset="-122"/>
                <a:cs typeface="Cambria" pitchFamily="34" charset="-120"/>
              </a:rPr>
              <a:t>They leak because a person who was allowed to hold the paper handed it to somebody else.</a:t>
            </a:r>
            <a:endParaRPr lang="en-US" sz="1800" dirty="0"/>
          </a:p>
        </p:txBody>
      </p:sp>
      <p:sp>
        <p:nvSpPr>
          <p:cNvPr id="7" name="Text 5"/>
          <p:cNvSpPr/>
          <p:nvPr/>
        </p:nvSpPr>
        <p:spPr>
          <a:xfrm>
            <a:off x="502920" y="3291840"/>
            <a:ext cx="5577840" cy="2377440"/>
          </a:xfrm>
          <a:prstGeom prst="rect">
            <a:avLst/>
          </a:prstGeom>
          <a:noFill/>
          <a:ln/>
        </p:spPr>
        <p:txBody>
          <a:bodyPr wrap="square" lIns="0" tIns="0" rIns="0" bIns="0" rtlCol="0" anchor="t"/>
          <a:lstStyle/>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In the Hazaribagh case the school principal was authorised to be in the strong room. No lock was broken.</a:t>
            </a:r>
            <a:endParaRPr lang="en-US" sz="1300" dirty="0"/>
          </a:p>
          <a:p>
            <a:pPr indent="0" marL="0">
              <a:lnSpc>
                <a:spcPct val="122000"/>
              </a:lnSpc>
              <a:buNone/>
            </a:pPr>
            <a:endParaRPr lang="en-US" sz="1300" dirty="0"/>
          </a:p>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What was missing was any record of who had the package and when — the register was written up afterwards, by hand, and it said whatever was convenient.</a:t>
            </a:r>
            <a:endParaRPr lang="en-US" sz="1300" dirty="0"/>
          </a:p>
        </p:txBody>
      </p:sp>
      <p:sp>
        <p:nvSpPr>
          <p:cNvPr id="8" name="Shape 6"/>
          <p:cNvSpPr/>
          <p:nvPr/>
        </p:nvSpPr>
        <p:spPr>
          <a:xfrm>
            <a:off x="6446520" y="1965960"/>
            <a:ext cx="5212080" cy="3703320"/>
          </a:xfrm>
          <a:prstGeom prst="roundRect">
            <a:avLst>
              <a:gd name="adj" fmla="val 988"/>
            </a:avLst>
          </a:prstGeom>
          <a:solidFill>
            <a:srgbClr val="F2ECFA"/>
          </a:solidFill>
          <a:ln w="9525">
            <a:solidFill>
              <a:srgbClr val="C0A8DC"/>
            </a:solidFill>
            <a:prstDash val="solid"/>
          </a:ln>
        </p:spPr>
      </p:sp>
      <p:sp>
        <p:nvSpPr>
          <p:cNvPr id="9" name="Text 7"/>
          <p:cNvSpPr/>
          <p:nvPr/>
        </p:nvSpPr>
        <p:spPr>
          <a:xfrm>
            <a:off x="6629400" y="2103120"/>
            <a:ext cx="4846320" cy="256032"/>
          </a:xfrm>
          <a:prstGeom prst="rect">
            <a:avLst/>
          </a:prstGeom>
          <a:noFill/>
          <a:ln/>
        </p:spPr>
        <p:txBody>
          <a:bodyPr wrap="square" lIns="0" tIns="0" rIns="0" bIns="0" rtlCol="0" anchor="ctr"/>
          <a:lstStyle/>
          <a:p>
            <a:pPr indent="0" marL="0">
              <a:buNone/>
            </a:pPr>
            <a:r>
              <a:rPr lang="en-US" sz="1300" b="1" dirty="0">
                <a:solidFill>
                  <a:srgbClr val="5B3490"/>
                </a:solidFill>
                <a:latin typeface="Calibri" pitchFamily="34" charset="0"/>
                <a:ea typeface="Calibri" pitchFamily="34" charset="-122"/>
                <a:cs typeface="Calibri" pitchFamily="34" charset="-120"/>
              </a:rPr>
              <a:t>So the real question is not “how do we stop a leak”</a:t>
            </a:r>
            <a:endParaRPr lang="en-US" sz="1300" dirty="0"/>
          </a:p>
        </p:txBody>
      </p:sp>
      <p:sp>
        <p:nvSpPr>
          <p:cNvPr id="10" name="Text 8"/>
          <p:cNvSpPr/>
          <p:nvPr/>
        </p:nvSpPr>
        <p:spPr>
          <a:xfrm>
            <a:off x="6629400" y="2386584"/>
            <a:ext cx="4846320" cy="3136392"/>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Nothing can promise that.</a:t>
            </a:r>
            <a:endParaRPr lang="en-US" sz="1100" dirty="0"/>
          </a:p>
          <a:p>
            <a:pPr indent="0" marL="0">
              <a:lnSpc>
                <a:spcPct val="118000"/>
              </a:lnSpc>
              <a:buNone/>
            </a:pPr>
            <a:endParaRPr lang="en-US" sz="1100" dirty="0"/>
          </a:p>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The question is: when a leak happens, can we prove who held the paper at every moment — and can that proof survive the people who would most like to change it?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02</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WHAT WE BUILT</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A register nobody can edit. Including us.</a:t>
            </a:r>
            <a:endParaRPr lang="en-US" sz="3000" dirty="0"/>
          </a:p>
        </p:txBody>
      </p:sp>
      <p:sp>
        <p:nvSpPr>
          <p:cNvPr id="6" name="Text 4"/>
          <p:cNvSpPr/>
          <p:nvPr/>
        </p:nvSpPr>
        <p:spPr>
          <a:xfrm>
            <a:off x="502920" y="1920240"/>
            <a:ext cx="10241280" cy="868680"/>
          </a:xfrm>
          <a:prstGeom prst="rect">
            <a:avLst/>
          </a:prstGeom>
          <a:noFill/>
          <a:ln/>
        </p:spPr>
        <p:txBody>
          <a:bodyPr wrap="square" lIns="0" tIns="0" rIns="0" bIns="0" rtlCol="0" anchor="t"/>
          <a:lstStyle/>
          <a:p>
            <a:pPr indent="0" marL="0">
              <a:lnSpc>
                <a:spcPct val="118000"/>
              </a:lnSpc>
              <a:buNone/>
            </a:pPr>
            <a:r>
              <a:rPr lang="en-US" sz="1800" dirty="0">
                <a:solidFill>
                  <a:srgbClr val="0F141C"/>
                </a:solidFill>
                <a:latin typeface="Cambria" pitchFamily="34" charset="0"/>
                <a:ea typeface="Cambria" pitchFamily="34" charset="-122"/>
                <a:cs typeface="Cambria" pitchFamily="34" charset="-120"/>
              </a:rPr>
              <a:t>Every step of the paper’s journey is written down as a signed record, in a chain, where nothing can be changed or removed afterwards.</a:t>
            </a:r>
            <a:endParaRPr lang="en-US" sz="1800" dirty="0"/>
          </a:p>
        </p:txBody>
      </p:sp>
      <p:sp>
        <p:nvSpPr>
          <p:cNvPr id="7" name="Shape 5"/>
          <p:cNvSpPr/>
          <p:nvPr/>
        </p:nvSpPr>
        <p:spPr>
          <a:xfrm>
            <a:off x="502920" y="3108960"/>
            <a:ext cx="3535680" cy="1874520"/>
          </a:xfrm>
          <a:prstGeom prst="roundRect">
            <a:avLst>
              <a:gd name="adj" fmla="val 1951"/>
            </a:avLst>
          </a:prstGeom>
          <a:solidFill>
            <a:srgbClr val="F2F4F7"/>
          </a:solidFill>
          <a:ln w="9525">
            <a:solidFill>
              <a:srgbClr val="D2D8E0"/>
            </a:solidFill>
            <a:prstDash val="solid"/>
          </a:ln>
        </p:spPr>
      </p:sp>
      <p:sp>
        <p:nvSpPr>
          <p:cNvPr id="8" name="Text 6"/>
          <p:cNvSpPr/>
          <p:nvPr/>
        </p:nvSpPr>
        <p:spPr>
          <a:xfrm>
            <a:off x="685800" y="3246120"/>
            <a:ext cx="3169920"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Signed</a:t>
            </a:r>
            <a:endParaRPr lang="en-US" sz="1300" dirty="0"/>
          </a:p>
        </p:txBody>
      </p:sp>
      <p:sp>
        <p:nvSpPr>
          <p:cNvPr id="9" name="Text 7"/>
          <p:cNvSpPr/>
          <p:nvPr/>
        </p:nvSpPr>
        <p:spPr>
          <a:xfrm>
            <a:off x="685800" y="3529584"/>
            <a:ext cx="3169920" cy="1307592"/>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Each device has its own secret key. Anyone can later check which device wrote a record — and nobody can forge one.</a:t>
            </a:r>
            <a:endParaRPr lang="en-US" sz="1100" dirty="0"/>
          </a:p>
        </p:txBody>
      </p:sp>
      <p:sp>
        <p:nvSpPr>
          <p:cNvPr id="10" name="Shape 8"/>
          <p:cNvSpPr/>
          <p:nvPr/>
        </p:nvSpPr>
        <p:spPr>
          <a:xfrm>
            <a:off x="4312920" y="3108960"/>
            <a:ext cx="3535680" cy="1874520"/>
          </a:xfrm>
          <a:prstGeom prst="roundRect">
            <a:avLst>
              <a:gd name="adj" fmla="val 1951"/>
            </a:avLst>
          </a:prstGeom>
          <a:solidFill>
            <a:srgbClr val="F2F4F7"/>
          </a:solidFill>
          <a:ln w="9525">
            <a:solidFill>
              <a:srgbClr val="D2D8E0"/>
            </a:solidFill>
            <a:prstDash val="solid"/>
          </a:ln>
        </p:spPr>
      </p:sp>
      <p:sp>
        <p:nvSpPr>
          <p:cNvPr id="11" name="Text 9"/>
          <p:cNvSpPr/>
          <p:nvPr/>
        </p:nvSpPr>
        <p:spPr>
          <a:xfrm>
            <a:off x="4495800" y="3246120"/>
            <a:ext cx="3169920"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Chained</a:t>
            </a:r>
            <a:endParaRPr lang="en-US" sz="1300" dirty="0"/>
          </a:p>
        </p:txBody>
      </p:sp>
      <p:sp>
        <p:nvSpPr>
          <p:cNvPr id="12" name="Text 10"/>
          <p:cNvSpPr/>
          <p:nvPr/>
        </p:nvSpPr>
        <p:spPr>
          <a:xfrm>
            <a:off x="4495800" y="3529584"/>
            <a:ext cx="3169920" cy="1307592"/>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Each record carries a fingerprint of the one before it. Alter an old record and every record after it stops matching.</a:t>
            </a:r>
            <a:endParaRPr lang="en-US" sz="1100" dirty="0"/>
          </a:p>
        </p:txBody>
      </p:sp>
      <p:sp>
        <p:nvSpPr>
          <p:cNvPr id="13" name="Shape 11"/>
          <p:cNvSpPr/>
          <p:nvPr/>
        </p:nvSpPr>
        <p:spPr>
          <a:xfrm>
            <a:off x="8122920" y="3108960"/>
            <a:ext cx="3535680" cy="1874520"/>
          </a:xfrm>
          <a:prstGeom prst="roundRect">
            <a:avLst>
              <a:gd name="adj" fmla="val 1951"/>
            </a:avLst>
          </a:prstGeom>
          <a:solidFill>
            <a:srgbClr val="F2F4F7"/>
          </a:solidFill>
          <a:ln w="9525">
            <a:solidFill>
              <a:srgbClr val="D2D8E0"/>
            </a:solidFill>
            <a:prstDash val="solid"/>
          </a:ln>
        </p:spPr>
      </p:sp>
      <p:sp>
        <p:nvSpPr>
          <p:cNvPr id="14" name="Text 12"/>
          <p:cNvSpPr/>
          <p:nvPr/>
        </p:nvSpPr>
        <p:spPr>
          <a:xfrm>
            <a:off x="8305800" y="3246120"/>
            <a:ext cx="3169920"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Append-only</a:t>
            </a:r>
            <a:endParaRPr lang="en-US" sz="1300" dirty="0"/>
          </a:p>
        </p:txBody>
      </p:sp>
      <p:sp>
        <p:nvSpPr>
          <p:cNvPr id="15" name="Text 13"/>
          <p:cNvSpPr/>
          <p:nvPr/>
        </p:nvSpPr>
        <p:spPr>
          <a:xfrm>
            <a:off x="8305800" y="3529584"/>
            <a:ext cx="3169920" cy="1307592"/>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The database gives our software no permission to edit or delete. That is not a promise in code — it is a permission that does not exist.</a:t>
            </a:r>
            <a:endParaRPr lang="en-US" sz="1100" dirty="0"/>
          </a:p>
        </p:txBody>
      </p:sp>
      <p:sp>
        <p:nvSpPr>
          <p:cNvPr id="16" name="Text 14"/>
          <p:cNvSpPr/>
          <p:nvPr/>
        </p:nvSpPr>
        <p:spPr>
          <a:xfrm>
            <a:off x="502920" y="5257800"/>
            <a:ext cx="11155680" cy="640080"/>
          </a:xfrm>
          <a:prstGeom prst="rect">
            <a:avLst/>
          </a:prstGeom>
          <a:noFill/>
          <a:ln/>
        </p:spPr>
        <p:txBody>
          <a:bodyPr wrap="square" lIns="0" tIns="0" rIns="0" bIns="0" rtlCol="0" anchor="t"/>
          <a:lstStyle/>
          <a:p>
            <a:pPr indent="0" marL="0">
              <a:lnSpc>
                <a:spcPct val="122000"/>
              </a:lnSpc>
              <a:buNone/>
            </a:pPr>
            <a:r>
              <a:rPr lang="en-US" sz="1200" dirty="0">
                <a:solidFill>
                  <a:srgbClr val="3C4756"/>
                </a:solidFill>
                <a:latin typeface="Calibri" pitchFamily="34" charset="0"/>
                <a:ea typeface="Calibri" pitchFamily="34" charset="-122"/>
                <a:cs typeface="Calibri" pitchFamily="34" charset="-120"/>
              </a:rPr>
              <a:t>The third one is the claim that matters. Application code can be changed by whoever deploys it; a database permission cannot be changed by the application itself.</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03</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THE JOURNEY</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The paper’s route is the thing we’re recording.</a:t>
            </a:r>
            <a:endParaRPr lang="en-US" sz="3000" dirty="0"/>
          </a:p>
        </p:txBody>
      </p:sp>
      <p:sp>
        <p:nvSpPr>
          <p:cNvPr id="6" name="Shape 4"/>
          <p:cNvSpPr/>
          <p:nvPr/>
        </p:nvSpPr>
        <p:spPr>
          <a:xfrm>
            <a:off x="626364" y="2267712"/>
            <a:ext cx="27432" cy="402336"/>
          </a:xfrm>
          <a:prstGeom prst="rect">
            <a:avLst/>
          </a:prstGeom>
          <a:solidFill>
            <a:srgbClr val="D2D8E0"/>
          </a:solidFill>
          <a:ln/>
        </p:spPr>
      </p:sp>
      <p:sp>
        <p:nvSpPr>
          <p:cNvPr id="7" name="Shape 5"/>
          <p:cNvSpPr/>
          <p:nvPr/>
        </p:nvSpPr>
        <p:spPr>
          <a:xfrm>
            <a:off x="502920" y="2039112"/>
            <a:ext cx="274320" cy="274320"/>
          </a:xfrm>
          <a:prstGeom prst="ellipse">
            <a:avLst/>
          </a:prstGeom>
          <a:solidFill>
            <a:srgbClr val="5B3490"/>
          </a:solidFill>
          <a:ln w="19050">
            <a:solidFill>
              <a:srgbClr val="5B3490"/>
            </a:solidFill>
            <a:prstDash val="solid"/>
          </a:ln>
        </p:spPr>
      </p:sp>
      <p:sp>
        <p:nvSpPr>
          <p:cNvPr id="8" name="Text 6"/>
          <p:cNvSpPr/>
          <p:nvPr/>
        </p:nvSpPr>
        <p:spPr>
          <a:xfrm>
            <a:off x="978408" y="2011680"/>
            <a:ext cx="4023360" cy="274320"/>
          </a:xfrm>
          <a:prstGeom prst="rect">
            <a:avLst/>
          </a:prstGeom>
          <a:noFill/>
          <a:ln/>
        </p:spPr>
        <p:txBody>
          <a:bodyPr wrap="square" lIns="0" tIns="0" rIns="0" bIns="0" rtlCol="0" anchor="ctr"/>
          <a:lstStyle/>
          <a:p>
            <a:pPr indent="0" marL="0">
              <a:buNone/>
            </a:pPr>
            <a:r>
              <a:rPr lang="en-US" sz="1400" b="1" dirty="0">
                <a:solidFill>
                  <a:srgbClr val="0F141C"/>
                </a:solidFill>
                <a:latin typeface="Calibri" pitchFamily="34" charset="0"/>
                <a:ea typeface="Calibri" pitchFamily="34" charset="-122"/>
                <a:cs typeface="Calibri" pitchFamily="34" charset="-120"/>
              </a:rPr>
              <a:t>Printing press</a:t>
            </a:r>
            <a:endParaRPr lang="en-US" sz="1400" dirty="0"/>
          </a:p>
        </p:txBody>
      </p:sp>
      <p:sp>
        <p:nvSpPr>
          <p:cNvPr id="9" name="Text 7"/>
          <p:cNvSpPr/>
          <p:nvPr/>
        </p:nvSpPr>
        <p:spPr>
          <a:xfrm>
            <a:off x="978408" y="2016252"/>
            <a:ext cx="4023360" cy="566928"/>
          </a:xfrm>
          <a:prstGeom prst="rect">
            <a:avLst/>
          </a:prstGeom>
          <a:noFill/>
          <a:ln/>
        </p:spPr>
        <p:txBody>
          <a:bodyPr wrap="square" lIns="0" tIns="0" rIns="0" bIns="0" rtlCol="0" anchor="b"/>
          <a:lstStyle/>
          <a:p>
            <a:pPr indent="0" marL="0">
              <a:buNone/>
            </a:pPr>
            <a:r>
              <a:rPr lang="en-US" sz="1100" dirty="0">
                <a:solidFill>
                  <a:srgbClr val="3C4756"/>
                </a:solidFill>
                <a:latin typeface="Calibri" pitchFamily="34" charset="0"/>
                <a:ea typeface="Calibri" pitchFamily="34" charset="-122"/>
                <a:cs typeface="Calibri" pitchFamily="34" charset="-120"/>
              </a:rPr>
              <a:t>The paper is encrypted and sealed</a:t>
            </a:r>
            <a:endParaRPr lang="en-US" sz="1100" dirty="0"/>
          </a:p>
        </p:txBody>
      </p:sp>
      <p:sp>
        <p:nvSpPr>
          <p:cNvPr id="10" name="Shape 8"/>
          <p:cNvSpPr/>
          <p:nvPr/>
        </p:nvSpPr>
        <p:spPr>
          <a:xfrm>
            <a:off x="626364" y="2926080"/>
            <a:ext cx="27432" cy="402336"/>
          </a:xfrm>
          <a:prstGeom prst="rect">
            <a:avLst/>
          </a:prstGeom>
          <a:solidFill>
            <a:srgbClr val="D2D8E0"/>
          </a:solidFill>
          <a:ln/>
        </p:spPr>
      </p:sp>
      <p:sp>
        <p:nvSpPr>
          <p:cNvPr id="11" name="Shape 9"/>
          <p:cNvSpPr/>
          <p:nvPr/>
        </p:nvSpPr>
        <p:spPr>
          <a:xfrm>
            <a:off x="502920" y="2697480"/>
            <a:ext cx="274320" cy="274320"/>
          </a:xfrm>
          <a:prstGeom prst="ellipse">
            <a:avLst/>
          </a:prstGeom>
          <a:solidFill>
            <a:srgbClr val="5B3490"/>
          </a:solidFill>
          <a:ln w="19050">
            <a:solidFill>
              <a:srgbClr val="5B3490"/>
            </a:solidFill>
            <a:prstDash val="solid"/>
          </a:ln>
        </p:spPr>
      </p:sp>
      <p:sp>
        <p:nvSpPr>
          <p:cNvPr id="12" name="Text 10"/>
          <p:cNvSpPr/>
          <p:nvPr/>
        </p:nvSpPr>
        <p:spPr>
          <a:xfrm>
            <a:off x="978408" y="2670048"/>
            <a:ext cx="4023360" cy="274320"/>
          </a:xfrm>
          <a:prstGeom prst="rect">
            <a:avLst/>
          </a:prstGeom>
          <a:noFill/>
          <a:ln/>
        </p:spPr>
        <p:txBody>
          <a:bodyPr wrap="square" lIns="0" tIns="0" rIns="0" bIns="0" rtlCol="0" anchor="ctr"/>
          <a:lstStyle/>
          <a:p>
            <a:pPr indent="0" marL="0">
              <a:buNone/>
            </a:pPr>
            <a:r>
              <a:rPr lang="en-US" sz="1400" b="1" dirty="0">
                <a:solidFill>
                  <a:srgbClr val="0F141C"/>
                </a:solidFill>
                <a:latin typeface="Calibri" pitchFamily="34" charset="0"/>
                <a:ea typeface="Calibri" pitchFamily="34" charset="-122"/>
                <a:cs typeface="Calibri" pitchFamily="34" charset="-120"/>
              </a:rPr>
              <a:t>Dispatch</a:t>
            </a:r>
            <a:endParaRPr lang="en-US" sz="1400" dirty="0"/>
          </a:p>
        </p:txBody>
      </p:sp>
      <p:sp>
        <p:nvSpPr>
          <p:cNvPr id="13" name="Text 11"/>
          <p:cNvSpPr/>
          <p:nvPr/>
        </p:nvSpPr>
        <p:spPr>
          <a:xfrm>
            <a:off x="978408" y="2674620"/>
            <a:ext cx="4023360" cy="566928"/>
          </a:xfrm>
          <a:prstGeom prst="rect">
            <a:avLst/>
          </a:prstGeom>
          <a:noFill/>
          <a:ln/>
        </p:spPr>
        <p:txBody>
          <a:bodyPr wrap="square" lIns="0" tIns="0" rIns="0" bIns="0" rtlCol="0" anchor="b"/>
          <a:lstStyle/>
          <a:p>
            <a:pPr indent="0" marL="0">
              <a:buNone/>
            </a:pPr>
            <a:r>
              <a:rPr lang="en-US" sz="1100" dirty="0">
                <a:solidFill>
                  <a:srgbClr val="3C4756"/>
                </a:solidFill>
                <a:latin typeface="Calibri" pitchFamily="34" charset="0"/>
                <a:ea typeface="Calibri" pitchFamily="34" charset="-122"/>
                <a:cs typeface="Calibri" pitchFamily="34" charset="-120"/>
              </a:rPr>
              <a:t>Handed to a courier — two signatures</a:t>
            </a:r>
            <a:endParaRPr lang="en-US" sz="1100" dirty="0"/>
          </a:p>
        </p:txBody>
      </p:sp>
      <p:sp>
        <p:nvSpPr>
          <p:cNvPr id="14" name="Shape 12"/>
          <p:cNvSpPr/>
          <p:nvPr/>
        </p:nvSpPr>
        <p:spPr>
          <a:xfrm>
            <a:off x="626364" y="3584448"/>
            <a:ext cx="27432" cy="402336"/>
          </a:xfrm>
          <a:prstGeom prst="rect">
            <a:avLst/>
          </a:prstGeom>
          <a:solidFill>
            <a:srgbClr val="D2D8E0"/>
          </a:solidFill>
          <a:ln/>
        </p:spPr>
      </p:sp>
      <p:sp>
        <p:nvSpPr>
          <p:cNvPr id="15" name="Shape 13"/>
          <p:cNvSpPr/>
          <p:nvPr/>
        </p:nvSpPr>
        <p:spPr>
          <a:xfrm>
            <a:off x="502920" y="3355848"/>
            <a:ext cx="274320" cy="274320"/>
          </a:xfrm>
          <a:prstGeom prst="ellipse">
            <a:avLst/>
          </a:prstGeom>
          <a:solidFill>
            <a:srgbClr val="5B3490"/>
          </a:solidFill>
          <a:ln w="19050">
            <a:solidFill>
              <a:srgbClr val="5B3490"/>
            </a:solidFill>
            <a:prstDash val="solid"/>
          </a:ln>
        </p:spPr>
      </p:sp>
      <p:sp>
        <p:nvSpPr>
          <p:cNvPr id="16" name="Text 14"/>
          <p:cNvSpPr/>
          <p:nvPr/>
        </p:nvSpPr>
        <p:spPr>
          <a:xfrm>
            <a:off x="978408" y="3328416"/>
            <a:ext cx="4023360" cy="274320"/>
          </a:xfrm>
          <a:prstGeom prst="rect">
            <a:avLst/>
          </a:prstGeom>
          <a:noFill/>
          <a:ln/>
        </p:spPr>
        <p:txBody>
          <a:bodyPr wrap="square" lIns="0" tIns="0" rIns="0" bIns="0" rtlCol="0" anchor="ctr"/>
          <a:lstStyle/>
          <a:p>
            <a:pPr indent="0" marL="0">
              <a:buNone/>
            </a:pPr>
            <a:r>
              <a:rPr lang="en-US" sz="1400" b="1" dirty="0">
                <a:solidFill>
                  <a:srgbClr val="0F141C"/>
                </a:solidFill>
                <a:latin typeface="Calibri" pitchFamily="34" charset="0"/>
                <a:ea typeface="Calibri" pitchFamily="34" charset="-122"/>
                <a:cs typeface="Calibri" pitchFamily="34" charset="-120"/>
              </a:rPr>
              <a:t>In transit</a:t>
            </a:r>
            <a:endParaRPr lang="en-US" sz="1400" dirty="0"/>
          </a:p>
        </p:txBody>
      </p:sp>
      <p:sp>
        <p:nvSpPr>
          <p:cNvPr id="17" name="Text 15"/>
          <p:cNvSpPr/>
          <p:nvPr/>
        </p:nvSpPr>
        <p:spPr>
          <a:xfrm>
            <a:off x="978408" y="3332988"/>
            <a:ext cx="4023360" cy="566928"/>
          </a:xfrm>
          <a:prstGeom prst="rect">
            <a:avLst/>
          </a:prstGeom>
          <a:noFill/>
          <a:ln/>
        </p:spPr>
        <p:txBody>
          <a:bodyPr wrap="square" lIns="0" tIns="0" rIns="0" bIns="0" rtlCol="0" anchor="b"/>
          <a:lstStyle/>
          <a:p>
            <a:pPr indent="0" marL="0">
              <a:buNone/>
            </a:pPr>
            <a:r>
              <a:rPr lang="en-US" sz="1100" dirty="0">
                <a:solidFill>
                  <a:srgbClr val="3C4756"/>
                </a:solidFill>
                <a:latin typeface="Calibri" pitchFamily="34" charset="0"/>
                <a:ea typeface="Calibri" pitchFamily="34" charset="-122"/>
                <a:cs typeface="Calibri" pitchFamily="34" charset="-120"/>
              </a:rPr>
              <a:t>Checkpoint scans along the road</a:t>
            </a:r>
            <a:endParaRPr lang="en-US" sz="1100" dirty="0"/>
          </a:p>
        </p:txBody>
      </p:sp>
      <p:sp>
        <p:nvSpPr>
          <p:cNvPr id="18" name="Shape 16"/>
          <p:cNvSpPr/>
          <p:nvPr/>
        </p:nvSpPr>
        <p:spPr>
          <a:xfrm>
            <a:off x="626364" y="4242816"/>
            <a:ext cx="27432" cy="402336"/>
          </a:xfrm>
          <a:prstGeom prst="rect">
            <a:avLst/>
          </a:prstGeom>
          <a:solidFill>
            <a:srgbClr val="D2D8E0"/>
          </a:solidFill>
          <a:ln/>
        </p:spPr>
      </p:sp>
      <p:sp>
        <p:nvSpPr>
          <p:cNvPr id="19" name="Shape 17"/>
          <p:cNvSpPr/>
          <p:nvPr/>
        </p:nvSpPr>
        <p:spPr>
          <a:xfrm>
            <a:off x="502920" y="4014216"/>
            <a:ext cx="274320" cy="274320"/>
          </a:xfrm>
          <a:prstGeom prst="ellipse">
            <a:avLst/>
          </a:prstGeom>
          <a:solidFill>
            <a:srgbClr val="5B3490"/>
          </a:solidFill>
          <a:ln w="19050">
            <a:solidFill>
              <a:srgbClr val="5B3490"/>
            </a:solidFill>
            <a:prstDash val="solid"/>
          </a:ln>
        </p:spPr>
      </p:sp>
      <p:sp>
        <p:nvSpPr>
          <p:cNvPr id="20" name="Text 18"/>
          <p:cNvSpPr/>
          <p:nvPr/>
        </p:nvSpPr>
        <p:spPr>
          <a:xfrm>
            <a:off x="978408" y="3986784"/>
            <a:ext cx="4023360" cy="274320"/>
          </a:xfrm>
          <a:prstGeom prst="rect">
            <a:avLst/>
          </a:prstGeom>
          <a:noFill/>
          <a:ln/>
        </p:spPr>
        <p:txBody>
          <a:bodyPr wrap="square" lIns="0" tIns="0" rIns="0" bIns="0" rtlCol="0" anchor="ctr"/>
          <a:lstStyle/>
          <a:p>
            <a:pPr indent="0" marL="0">
              <a:buNone/>
            </a:pPr>
            <a:r>
              <a:rPr lang="en-US" sz="1400" b="1" dirty="0">
                <a:solidFill>
                  <a:srgbClr val="0F141C"/>
                </a:solidFill>
                <a:latin typeface="Calibri" pitchFamily="34" charset="0"/>
                <a:ea typeface="Calibri" pitchFamily="34" charset="-122"/>
                <a:cs typeface="Calibri" pitchFamily="34" charset="-120"/>
              </a:rPr>
              <a:t>Overnight custody</a:t>
            </a:r>
            <a:endParaRPr lang="en-US" sz="1400" dirty="0"/>
          </a:p>
        </p:txBody>
      </p:sp>
      <p:sp>
        <p:nvSpPr>
          <p:cNvPr id="21" name="Text 19"/>
          <p:cNvSpPr/>
          <p:nvPr/>
        </p:nvSpPr>
        <p:spPr>
          <a:xfrm>
            <a:off x="978408" y="3991356"/>
            <a:ext cx="4023360" cy="566928"/>
          </a:xfrm>
          <a:prstGeom prst="rect">
            <a:avLst/>
          </a:prstGeom>
          <a:noFill/>
          <a:ln/>
        </p:spPr>
        <p:txBody>
          <a:bodyPr wrap="square" lIns="0" tIns="0" rIns="0" bIns="0" rtlCol="0" anchor="b"/>
          <a:lstStyle/>
          <a:p>
            <a:pPr indent="0" marL="0">
              <a:buNone/>
            </a:pPr>
            <a:r>
              <a:rPr lang="en-US" sz="1100" dirty="0">
                <a:solidFill>
                  <a:srgbClr val="3C4756"/>
                </a:solidFill>
                <a:latin typeface="Calibri" pitchFamily="34" charset="0"/>
                <a:ea typeface="Calibri" pitchFamily="34" charset="-122"/>
                <a:cs typeface="Calibri" pitchFamily="34" charset="-120"/>
              </a:rPr>
              <a:t>Received by the custodian</a:t>
            </a:r>
            <a:endParaRPr lang="en-US" sz="1100" dirty="0"/>
          </a:p>
        </p:txBody>
      </p:sp>
      <p:sp>
        <p:nvSpPr>
          <p:cNvPr id="22" name="Shape 20"/>
          <p:cNvSpPr/>
          <p:nvPr/>
        </p:nvSpPr>
        <p:spPr>
          <a:xfrm>
            <a:off x="626364" y="4901184"/>
            <a:ext cx="27432" cy="402336"/>
          </a:xfrm>
          <a:prstGeom prst="rect">
            <a:avLst/>
          </a:prstGeom>
          <a:solidFill>
            <a:srgbClr val="D2D8E0"/>
          </a:solidFill>
          <a:ln/>
        </p:spPr>
      </p:sp>
      <p:sp>
        <p:nvSpPr>
          <p:cNvPr id="23" name="Shape 21"/>
          <p:cNvSpPr/>
          <p:nvPr/>
        </p:nvSpPr>
        <p:spPr>
          <a:xfrm>
            <a:off x="502920" y="4672584"/>
            <a:ext cx="274320" cy="274320"/>
          </a:xfrm>
          <a:prstGeom prst="ellipse">
            <a:avLst/>
          </a:prstGeom>
          <a:solidFill>
            <a:srgbClr val="5B3490"/>
          </a:solidFill>
          <a:ln w="19050">
            <a:solidFill>
              <a:srgbClr val="5B3490"/>
            </a:solidFill>
            <a:prstDash val="solid"/>
          </a:ln>
        </p:spPr>
      </p:sp>
      <p:sp>
        <p:nvSpPr>
          <p:cNvPr id="24" name="Text 22"/>
          <p:cNvSpPr/>
          <p:nvPr/>
        </p:nvSpPr>
        <p:spPr>
          <a:xfrm>
            <a:off x="978408" y="4645152"/>
            <a:ext cx="4023360" cy="274320"/>
          </a:xfrm>
          <a:prstGeom prst="rect">
            <a:avLst/>
          </a:prstGeom>
          <a:noFill/>
          <a:ln/>
        </p:spPr>
        <p:txBody>
          <a:bodyPr wrap="square" lIns="0" tIns="0" rIns="0" bIns="0" rtlCol="0" anchor="ctr"/>
          <a:lstStyle/>
          <a:p>
            <a:pPr indent="0" marL="0">
              <a:buNone/>
            </a:pPr>
            <a:r>
              <a:rPr lang="en-US" sz="1400" b="1" dirty="0">
                <a:solidFill>
                  <a:srgbClr val="0F141C"/>
                </a:solidFill>
                <a:latin typeface="Calibri" pitchFamily="34" charset="0"/>
                <a:ea typeface="Calibri" pitchFamily="34" charset="-122"/>
                <a:cs typeface="Calibri" pitchFamily="34" charset="-120"/>
              </a:rPr>
              <a:t>The exam centre</a:t>
            </a:r>
            <a:endParaRPr lang="en-US" sz="1400" dirty="0"/>
          </a:p>
        </p:txBody>
      </p:sp>
      <p:sp>
        <p:nvSpPr>
          <p:cNvPr id="25" name="Text 23"/>
          <p:cNvSpPr/>
          <p:nvPr/>
        </p:nvSpPr>
        <p:spPr>
          <a:xfrm>
            <a:off x="978408" y="4649724"/>
            <a:ext cx="4023360" cy="566928"/>
          </a:xfrm>
          <a:prstGeom prst="rect">
            <a:avLst/>
          </a:prstGeom>
          <a:noFill/>
          <a:ln/>
        </p:spPr>
        <p:txBody>
          <a:bodyPr wrap="square" lIns="0" tIns="0" rIns="0" bIns="0" rtlCol="0" anchor="b"/>
          <a:lstStyle/>
          <a:p>
            <a:pPr indent="0" marL="0">
              <a:buNone/>
            </a:pPr>
            <a:r>
              <a:rPr lang="en-US" sz="1100" dirty="0">
                <a:solidFill>
                  <a:srgbClr val="3C4756"/>
                </a:solidFill>
                <a:latin typeface="Calibri" pitchFamily="34" charset="0"/>
                <a:ea typeface="Calibri" pitchFamily="34" charset="-122"/>
                <a:cs typeface="Calibri" pitchFamily="34" charset="-120"/>
              </a:rPr>
              <a:t>Delivered to the superintendent</a:t>
            </a:r>
            <a:endParaRPr lang="en-US" sz="1100" dirty="0"/>
          </a:p>
        </p:txBody>
      </p:sp>
      <p:sp>
        <p:nvSpPr>
          <p:cNvPr id="26" name="Shape 24"/>
          <p:cNvSpPr/>
          <p:nvPr/>
        </p:nvSpPr>
        <p:spPr>
          <a:xfrm>
            <a:off x="502920" y="5330952"/>
            <a:ext cx="274320" cy="274320"/>
          </a:xfrm>
          <a:prstGeom prst="ellipse">
            <a:avLst/>
          </a:prstGeom>
          <a:solidFill>
            <a:srgbClr val="FFFFFF"/>
          </a:solidFill>
          <a:ln w="19050">
            <a:solidFill>
              <a:srgbClr val="5B3490"/>
            </a:solidFill>
            <a:prstDash val="solid"/>
          </a:ln>
        </p:spPr>
      </p:sp>
      <p:sp>
        <p:nvSpPr>
          <p:cNvPr id="27" name="Text 25"/>
          <p:cNvSpPr/>
          <p:nvPr/>
        </p:nvSpPr>
        <p:spPr>
          <a:xfrm>
            <a:off x="978408" y="5303520"/>
            <a:ext cx="4023360" cy="274320"/>
          </a:xfrm>
          <a:prstGeom prst="rect">
            <a:avLst/>
          </a:prstGeom>
          <a:noFill/>
          <a:ln/>
        </p:spPr>
        <p:txBody>
          <a:bodyPr wrap="square" lIns="0" tIns="0" rIns="0" bIns="0" rtlCol="0" anchor="ctr"/>
          <a:lstStyle/>
          <a:p>
            <a:pPr indent="0" marL="0">
              <a:buNone/>
            </a:pPr>
            <a:r>
              <a:rPr lang="en-US" sz="1400" b="1" dirty="0">
                <a:solidFill>
                  <a:srgbClr val="0F141C"/>
                </a:solidFill>
                <a:latin typeface="Calibri" pitchFamily="34" charset="0"/>
                <a:ea typeface="Calibri" pitchFamily="34" charset="-122"/>
                <a:cs typeface="Calibri" pitchFamily="34" charset="-120"/>
              </a:rPr>
              <a:t>The unlock</a:t>
            </a:r>
            <a:endParaRPr lang="en-US" sz="1400" dirty="0"/>
          </a:p>
        </p:txBody>
      </p:sp>
      <p:sp>
        <p:nvSpPr>
          <p:cNvPr id="28" name="Text 26"/>
          <p:cNvSpPr/>
          <p:nvPr/>
        </p:nvSpPr>
        <p:spPr>
          <a:xfrm>
            <a:off x="978408" y="5308092"/>
            <a:ext cx="4023360" cy="566928"/>
          </a:xfrm>
          <a:prstGeom prst="rect">
            <a:avLst/>
          </a:prstGeom>
          <a:noFill/>
          <a:ln/>
        </p:spPr>
        <p:txBody>
          <a:bodyPr wrap="square" lIns="0" tIns="0" rIns="0" bIns="0" rtlCol="0" anchor="b"/>
          <a:lstStyle/>
          <a:p>
            <a:pPr indent="0" marL="0">
              <a:buNone/>
            </a:pPr>
            <a:r>
              <a:rPr lang="en-US" sz="1100" dirty="0">
                <a:solidFill>
                  <a:srgbClr val="3C4756"/>
                </a:solidFill>
                <a:latin typeface="Calibri" pitchFamily="34" charset="0"/>
                <a:ea typeface="Calibri" pitchFamily="34" charset="-122"/>
                <a:cs typeface="Calibri" pitchFamily="34" charset="-120"/>
              </a:rPr>
              <a:t>Two officials, minutes before the exam</a:t>
            </a:r>
            <a:endParaRPr lang="en-US" sz="1100" dirty="0"/>
          </a:p>
        </p:txBody>
      </p:sp>
      <p:sp>
        <p:nvSpPr>
          <p:cNvPr id="29" name="Text 27"/>
          <p:cNvSpPr/>
          <p:nvPr/>
        </p:nvSpPr>
        <p:spPr>
          <a:xfrm>
            <a:off x="5943600" y="2011680"/>
            <a:ext cx="5715000" cy="1280160"/>
          </a:xfrm>
          <a:prstGeom prst="rect">
            <a:avLst/>
          </a:prstGeom>
          <a:noFill/>
          <a:ln/>
        </p:spPr>
        <p:txBody>
          <a:bodyPr wrap="square" lIns="0" tIns="0" rIns="0" bIns="0" rtlCol="0" anchor="t"/>
          <a:lstStyle/>
          <a:p>
            <a:pPr indent="0" marL="0">
              <a:lnSpc>
                <a:spcPct val="118000"/>
              </a:lnSpc>
              <a:buNone/>
            </a:pPr>
            <a:r>
              <a:rPr lang="en-US" sz="1700" dirty="0">
                <a:solidFill>
                  <a:srgbClr val="0F141C"/>
                </a:solidFill>
                <a:latin typeface="Cambria" pitchFamily="34" charset="0"/>
                <a:ea typeface="Cambria" pitchFamily="34" charset="-122"/>
                <a:cs typeface="Cambria" pitchFamily="34" charset="-120"/>
              </a:rPr>
              <a:t>Most of the risk is not in the strong room. It’s in the hours the package spends in a vehicle and in somebody’s custody overnight.</a:t>
            </a:r>
            <a:endParaRPr lang="en-US" sz="1700" dirty="0"/>
          </a:p>
        </p:txBody>
      </p:sp>
      <p:sp>
        <p:nvSpPr>
          <p:cNvPr id="30" name="Text 28"/>
          <p:cNvSpPr/>
          <p:nvPr/>
        </p:nvSpPr>
        <p:spPr>
          <a:xfrm>
            <a:off x="5943600" y="3474720"/>
            <a:ext cx="5715000" cy="2194560"/>
          </a:xfrm>
          <a:prstGeom prst="rect">
            <a:avLst/>
          </a:prstGeom>
          <a:noFill/>
          <a:ln/>
        </p:spPr>
        <p:txBody>
          <a:bodyPr wrap="square" lIns="0" tIns="0" rIns="0" bIns="0" rtlCol="0" anchor="t"/>
          <a:lstStyle/>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That stretch is exactly what a paper register describes worst — so it is the stretch we record most carefully.</a:t>
            </a:r>
            <a:endParaRPr lang="en-US" sz="1300" dirty="0"/>
          </a:p>
          <a:p>
            <a:pPr indent="0" marL="0">
              <a:lnSpc>
                <a:spcPct val="122000"/>
              </a:lnSpc>
              <a:buNone/>
            </a:pPr>
            <a:endParaRPr lang="en-US" sz="1300" dirty="0"/>
          </a:p>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Every hop on the left produces its own signed record, with its own timestamp, its own signatures and its own photograph.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04</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AT THE PRESS</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The paper is locked into a box only a key can open.</a:t>
            </a:r>
            <a:endParaRPr lang="en-US" sz="3000" dirty="0"/>
          </a:p>
        </p:txBody>
      </p:sp>
      <p:sp>
        <p:nvSpPr>
          <p:cNvPr id="6" name="Text 4"/>
          <p:cNvSpPr/>
          <p:nvPr/>
        </p:nvSpPr>
        <p:spPr>
          <a:xfrm>
            <a:off x="502920" y="1965960"/>
            <a:ext cx="5577840" cy="1097280"/>
          </a:xfrm>
          <a:prstGeom prst="rect">
            <a:avLst/>
          </a:prstGeom>
          <a:noFill/>
          <a:ln/>
        </p:spPr>
        <p:txBody>
          <a:bodyPr wrap="square" lIns="0" tIns="0" rIns="0" bIns="0" rtlCol="0" anchor="t"/>
          <a:lstStyle/>
          <a:p>
            <a:pPr indent="0" marL="0">
              <a:lnSpc>
                <a:spcPct val="118000"/>
              </a:lnSpc>
              <a:buNone/>
            </a:pPr>
            <a:r>
              <a:rPr lang="en-US" sz="1700" dirty="0">
                <a:solidFill>
                  <a:srgbClr val="0F141C"/>
                </a:solidFill>
                <a:latin typeface="Cambria" pitchFamily="34" charset="0"/>
                <a:ea typeface="Cambria" pitchFamily="34" charset="-122"/>
                <a:cs typeface="Cambria" pitchFamily="34" charset="-120"/>
              </a:rPr>
              <a:t>The question paper is scrambled into unreadable data. Without the key it is not “hard to read” — it is nothing at all.</a:t>
            </a:r>
            <a:endParaRPr lang="en-US" sz="1700" dirty="0"/>
          </a:p>
        </p:txBody>
      </p:sp>
      <p:sp>
        <p:nvSpPr>
          <p:cNvPr id="7" name="Shape 5"/>
          <p:cNvSpPr/>
          <p:nvPr/>
        </p:nvSpPr>
        <p:spPr>
          <a:xfrm>
            <a:off x="502920" y="3291840"/>
            <a:ext cx="5577840" cy="1965960"/>
          </a:xfrm>
          <a:prstGeom prst="roundRect">
            <a:avLst>
              <a:gd name="adj" fmla="val 1860"/>
            </a:avLst>
          </a:prstGeom>
          <a:solidFill>
            <a:srgbClr val="F2ECFA"/>
          </a:solidFill>
          <a:ln w="9525">
            <a:solidFill>
              <a:srgbClr val="C0A8DC"/>
            </a:solidFill>
            <a:prstDash val="solid"/>
          </a:ln>
        </p:spPr>
      </p:sp>
      <p:sp>
        <p:nvSpPr>
          <p:cNvPr id="8" name="Text 6"/>
          <p:cNvSpPr/>
          <p:nvPr/>
        </p:nvSpPr>
        <p:spPr>
          <a:xfrm>
            <a:off x="704088" y="3410712"/>
            <a:ext cx="5175504" cy="182880"/>
          </a:xfrm>
          <a:prstGeom prst="rect">
            <a:avLst/>
          </a:prstGeom>
          <a:noFill/>
          <a:ln/>
        </p:spPr>
        <p:txBody>
          <a:bodyPr wrap="square" lIns="0" tIns="0" rIns="0" bIns="0" rtlCol="0" anchor="ctr"/>
          <a:lstStyle/>
          <a:p>
            <a:pPr indent="0" marL="0">
              <a:buNone/>
            </a:pPr>
            <a:r>
              <a:rPr lang="en-US" sz="800" spc="150" kern="0" dirty="0">
                <a:solidFill>
                  <a:srgbClr val="5B3490"/>
                </a:solidFill>
                <a:latin typeface="Courier New" pitchFamily="34" charset="0"/>
                <a:ea typeface="Courier New" pitchFamily="34" charset="-122"/>
                <a:cs typeface="Courier New" pitchFamily="34" charset="-120"/>
              </a:rPr>
              <a:t>THE TECHNICAL NAME</a:t>
            </a:r>
            <a:endParaRPr lang="en-US" sz="800" dirty="0"/>
          </a:p>
        </p:txBody>
      </p:sp>
      <p:sp>
        <p:nvSpPr>
          <p:cNvPr id="9" name="Text 7"/>
          <p:cNvSpPr/>
          <p:nvPr/>
        </p:nvSpPr>
        <p:spPr>
          <a:xfrm>
            <a:off x="704088" y="3602736"/>
            <a:ext cx="5175504" cy="228600"/>
          </a:xfrm>
          <a:prstGeom prst="rect">
            <a:avLst/>
          </a:prstGeom>
          <a:noFill/>
          <a:ln/>
        </p:spPr>
        <p:txBody>
          <a:bodyPr wrap="square" lIns="0" tIns="0" rIns="0" bIns="0" rtlCol="0" anchor="ctr"/>
          <a:lstStyle/>
          <a:p>
            <a:pPr indent="0" marL="0">
              <a:buNone/>
            </a:pPr>
            <a:r>
              <a:rPr lang="en-US" sz="1200" b="1" dirty="0">
                <a:solidFill>
                  <a:srgbClr val="0F141C"/>
                </a:solidFill>
                <a:latin typeface="Courier New" pitchFamily="34" charset="0"/>
                <a:ea typeface="Courier New" pitchFamily="34" charset="-122"/>
                <a:cs typeface="Courier New" pitchFamily="34" charset="-120"/>
              </a:rPr>
              <a:t>XChaCha20-Poly1305</a:t>
            </a:r>
            <a:endParaRPr lang="en-US" sz="1200" dirty="0"/>
          </a:p>
        </p:txBody>
      </p:sp>
      <p:sp>
        <p:nvSpPr>
          <p:cNvPr id="10" name="Text 8"/>
          <p:cNvSpPr/>
          <p:nvPr/>
        </p:nvSpPr>
        <p:spPr>
          <a:xfrm>
            <a:off x="704088" y="3858768"/>
            <a:ext cx="5175504" cy="1252728"/>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An encryption method that also detects tampering. If a single bit of the sealed data is altered it refuses to open, rather than producing plausible-looking rubbish — which matters when the alternative is handing out a wrong paper an hour before an exam.</a:t>
            </a:r>
            <a:endParaRPr lang="en-US" sz="1100" dirty="0"/>
          </a:p>
        </p:txBody>
      </p:sp>
      <p:sp>
        <p:nvSpPr>
          <p:cNvPr id="11" name="Shape 9"/>
          <p:cNvSpPr/>
          <p:nvPr/>
        </p:nvSpPr>
        <p:spPr>
          <a:xfrm>
            <a:off x="6720840" y="2103120"/>
            <a:ext cx="4114800" cy="502920"/>
          </a:xfrm>
          <a:prstGeom prst="roundRect">
            <a:avLst>
              <a:gd name="adj" fmla="val 7273"/>
            </a:avLst>
          </a:prstGeom>
          <a:solidFill>
            <a:srgbClr val="F2F4F7"/>
          </a:solidFill>
          <a:ln w="9525">
            <a:solidFill>
              <a:srgbClr val="D2D8E0"/>
            </a:solidFill>
            <a:prstDash val="solid"/>
          </a:ln>
        </p:spPr>
      </p:sp>
      <p:sp>
        <p:nvSpPr>
          <p:cNvPr id="12" name="Text 10"/>
          <p:cNvSpPr/>
          <p:nvPr/>
        </p:nvSpPr>
        <p:spPr>
          <a:xfrm>
            <a:off x="6720840" y="2103120"/>
            <a:ext cx="4114800" cy="502920"/>
          </a:xfrm>
          <a:prstGeom prst="rect">
            <a:avLst/>
          </a:prstGeom>
          <a:noFill/>
          <a:ln/>
        </p:spPr>
        <p:txBody>
          <a:bodyPr wrap="square" lIns="0" tIns="0" rIns="0" bIns="0" rtlCol="0" anchor="ctr"/>
          <a:lstStyle/>
          <a:p>
            <a:pPr algn="ctr" indent="0" marL="0">
              <a:buNone/>
            </a:pPr>
            <a:r>
              <a:rPr lang="en-US" sz="1000" dirty="0">
                <a:solidFill>
                  <a:srgbClr val="0F141C"/>
                </a:solidFill>
                <a:latin typeface="Courier New" pitchFamily="34" charset="0"/>
                <a:ea typeface="Courier New" pitchFamily="34" charset="-122"/>
                <a:cs typeface="Courier New" pitchFamily="34" charset="-120"/>
              </a:rPr>
              <a:t>Original paper</a:t>
            </a:r>
            <a:endParaRPr lang="en-US" sz="1000" dirty="0"/>
          </a:p>
        </p:txBody>
      </p:sp>
      <p:sp>
        <p:nvSpPr>
          <p:cNvPr id="13" name="Text 11"/>
          <p:cNvSpPr/>
          <p:nvPr/>
        </p:nvSpPr>
        <p:spPr>
          <a:xfrm>
            <a:off x="6720840" y="2651760"/>
            <a:ext cx="4114800" cy="365760"/>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14" name="Shape 12"/>
          <p:cNvSpPr/>
          <p:nvPr/>
        </p:nvSpPr>
        <p:spPr>
          <a:xfrm>
            <a:off x="6720840" y="3017520"/>
            <a:ext cx="4114800" cy="502920"/>
          </a:xfrm>
          <a:prstGeom prst="roundRect">
            <a:avLst>
              <a:gd name="adj" fmla="val 7273"/>
            </a:avLst>
          </a:prstGeom>
          <a:solidFill>
            <a:srgbClr val="F2ECFA"/>
          </a:solidFill>
          <a:ln w="9525">
            <a:solidFill>
              <a:srgbClr val="C0A8DC"/>
            </a:solidFill>
            <a:prstDash val="solid"/>
          </a:ln>
        </p:spPr>
      </p:sp>
      <p:sp>
        <p:nvSpPr>
          <p:cNvPr id="15" name="Text 13"/>
          <p:cNvSpPr/>
          <p:nvPr/>
        </p:nvSpPr>
        <p:spPr>
          <a:xfrm>
            <a:off x="6720840" y="3017520"/>
            <a:ext cx="4114800" cy="502920"/>
          </a:xfrm>
          <a:prstGeom prst="rect">
            <a:avLst/>
          </a:prstGeom>
          <a:noFill/>
          <a:ln/>
        </p:spPr>
        <p:txBody>
          <a:bodyPr wrap="square" lIns="0" tIns="0" rIns="0" bIns="0" rtlCol="0" anchor="ctr"/>
          <a:lstStyle/>
          <a:p>
            <a:pPr algn="ctr" indent="0" marL="0">
              <a:buNone/>
            </a:pPr>
            <a:r>
              <a:rPr lang="en-US" sz="1000" b="1" dirty="0">
                <a:solidFill>
                  <a:srgbClr val="5B3490"/>
                </a:solidFill>
                <a:latin typeface="Courier New" pitchFamily="34" charset="0"/>
                <a:ea typeface="Courier New" pitchFamily="34" charset="-122"/>
                <a:cs typeface="Courier New" pitchFamily="34" charset="-120"/>
              </a:rPr>
              <a:t>encrypt</a:t>
            </a:r>
            <a:endParaRPr lang="en-US" sz="1000" dirty="0"/>
          </a:p>
        </p:txBody>
      </p:sp>
      <p:sp>
        <p:nvSpPr>
          <p:cNvPr id="16" name="Text 14"/>
          <p:cNvSpPr/>
          <p:nvPr/>
        </p:nvSpPr>
        <p:spPr>
          <a:xfrm>
            <a:off x="6720840" y="3566160"/>
            <a:ext cx="4114800" cy="365760"/>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17" name="Shape 15"/>
          <p:cNvSpPr/>
          <p:nvPr/>
        </p:nvSpPr>
        <p:spPr>
          <a:xfrm>
            <a:off x="6720840" y="3931920"/>
            <a:ext cx="4114800" cy="502920"/>
          </a:xfrm>
          <a:prstGeom prst="roundRect">
            <a:avLst>
              <a:gd name="adj" fmla="val 7273"/>
            </a:avLst>
          </a:prstGeom>
          <a:solidFill>
            <a:srgbClr val="F2F4F7"/>
          </a:solidFill>
          <a:ln w="9525">
            <a:solidFill>
              <a:srgbClr val="D2D8E0"/>
            </a:solidFill>
            <a:prstDash val="solid"/>
          </a:ln>
        </p:spPr>
      </p:sp>
      <p:sp>
        <p:nvSpPr>
          <p:cNvPr id="18" name="Text 16"/>
          <p:cNvSpPr/>
          <p:nvPr/>
        </p:nvSpPr>
        <p:spPr>
          <a:xfrm>
            <a:off x="6720840" y="3931920"/>
            <a:ext cx="4114800" cy="502920"/>
          </a:xfrm>
          <a:prstGeom prst="rect">
            <a:avLst/>
          </a:prstGeom>
          <a:noFill/>
          <a:ln/>
        </p:spPr>
        <p:txBody>
          <a:bodyPr wrap="square" lIns="0" tIns="0" rIns="0" bIns="0" rtlCol="0" anchor="ctr"/>
          <a:lstStyle/>
          <a:p>
            <a:pPr algn="ctr" indent="0" marL="0">
              <a:buNone/>
            </a:pPr>
            <a:r>
              <a:rPr lang="en-US" sz="1000" dirty="0">
                <a:solidFill>
                  <a:srgbClr val="0F141C"/>
                </a:solidFill>
                <a:latin typeface="Courier New" pitchFamily="34" charset="0"/>
                <a:ea typeface="Courier New" pitchFamily="34" charset="-122"/>
                <a:cs typeface="Courier New" pitchFamily="34" charset="-120"/>
              </a:rPr>
              <a:t>9f3c1d…a8e0b4  unreadable</a:t>
            </a:r>
            <a:endParaRPr lang="en-US" sz="1000" dirty="0"/>
          </a:p>
        </p:txBody>
      </p:sp>
      <p:sp>
        <p:nvSpPr>
          <p:cNvPr id="19" name="Shape 17"/>
          <p:cNvSpPr/>
          <p:nvPr/>
        </p:nvSpPr>
        <p:spPr>
          <a:xfrm>
            <a:off x="6720840" y="4663440"/>
            <a:ext cx="4114800" cy="1051560"/>
          </a:xfrm>
          <a:prstGeom prst="roundRect">
            <a:avLst>
              <a:gd name="adj" fmla="val 3478"/>
            </a:avLst>
          </a:prstGeom>
          <a:solidFill>
            <a:srgbClr val="F2F4F7"/>
          </a:solidFill>
          <a:ln w="9525">
            <a:solidFill>
              <a:srgbClr val="D2D8E0"/>
            </a:solidFill>
            <a:prstDash val="solid"/>
          </a:ln>
        </p:spPr>
      </p:sp>
      <p:sp>
        <p:nvSpPr>
          <p:cNvPr id="20" name="Text 18"/>
          <p:cNvSpPr/>
          <p:nvPr/>
        </p:nvSpPr>
        <p:spPr>
          <a:xfrm>
            <a:off x="6903720" y="4800600"/>
            <a:ext cx="3749040"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Bound to this package</a:t>
            </a:r>
            <a:endParaRPr lang="en-US" sz="1300" dirty="0"/>
          </a:p>
        </p:txBody>
      </p:sp>
      <p:sp>
        <p:nvSpPr>
          <p:cNvPr id="21" name="Text 19"/>
          <p:cNvSpPr/>
          <p:nvPr/>
        </p:nvSpPr>
        <p:spPr>
          <a:xfrm>
            <a:off x="6903720" y="5084064"/>
            <a:ext cx="3749040" cy="484632"/>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The sealed data is tied to one package id. Lift the ciphertext and present it as a different package and it will not open.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05</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AT THE PRESS</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The key is broken into four pieces. Any three open it.</a:t>
            </a:r>
            <a:endParaRPr lang="en-US" sz="3000" dirty="0"/>
          </a:p>
        </p:txBody>
      </p:sp>
      <p:sp>
        <p:nvSpPr>
          <p:cNvPr id="6" name="Text 4"/>
          <p:cNvSpPr/>
          <p:nvPr/>
        </p:nvSpPr>
        <p:spPr>
          <a:xfrm>
            <a:off x="502920" y="1965960"/>
            <a:ext cx="5577840" cy="914400"/>
          </a:xfrm>
          <a:prstGeom prst="rect">
            <a:avLst/>
          </a:prstGeom>
          <a:noFill/>
          <a:ln/>
        </p:spPr>
        <p:txBody>
          <a:bodyPr wrap="square" lIns="0" tIns="0" rIns="0" bIns="0" rtlCol="0" anchor="t"/>
          <a:lstStyle/>
          <a:p>
            <a:pPr indent="0" marL="0">
              <a:lnSpc>
                <a:spcPct val="118000"/>
              </a:lnSpc>
              <a:buNone/>
            </a:pPr>
            <a:r>
              <a:rPr lang="en-US" sz="1700" dirty="0">
                <a:solidFill>
                  <a:srgbClr val="0F141C"/>
                </a:solidFill>
                <a:latin typeface="Cambria" pitchFamily="34" charset="0"/>
                <a:ea typeface="Cambria" pitchFamily="34" charset="-122"/>
                <a:cs typeface="Cambria" pitchFamily="34" charset="-120"/>
              </a:rPr>
              <a:t>No single person ever holds the whole key — so no single person can open the paper alone.</a:t>
            </a:r>
            <a:endParaRPr lang="en-US" sz="1700" dirty="0"/>
          </a:p>
        </p:txBody>
      </p:sp>
      <p:sp>
        <p:nvSpPr>
          <p:cNvPr id="7" name="Text 5"/>
          <p:cNvSpPr/>
          <p:nvPr/>
        </p:nvSpPr>
        <p:spPr>
          <a:xfrm>
            <a:off x="502920" y="3017520"/>
            <a:ext cx="5577840" cy="685800"/>
          </a:xfrm>
          <a:prstGeom prst="rect">
            <a:avLst/>
          </a:prstGeom>
          <a:noFill/>
          <a:ln/>
        </p:spPr>
        <p:txBody>
          <a:bodyPr wrap="square" lIns="0" tIns="0" rIns="0" bIns="0" rtlCol="0" anchor="t"/>
          <a:lstStyle/>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Two pieces tell you nothing. Not “almost enough” — mathematically nothing, as if you had none at all.</a:t>
            </a:r>
            <a:endParaRPr lang="en-US" sz="1300" dirty="0"/>
          </a:p>
        </p:txBody>
      </p:sp>
      <p:sp>
        <p:nvSpPr>
          <p:cNvPr id="8" name="Shape 6"/>
          <p:cNvSpPr/>
          <p:nvPr/>
        </p:nvSpPr>
        <p:spPr>
          <a:xfrm>
            <a:off x="502920" y="3840480"/>
            <a:ext cx="5577840" cy="1463040"/>
          </a:xfrm>
          <a:prstGeom prst="roundRect">
            <a:avLst>
              <a:gd name="adj" fmla="val 2500"/>
            </a:avLst>
          </a:prstGeom>
          <a:solidFill>
            <a:srgbClr val="F2ECFA"/>
          </a:solidFill>
          <a:ln w="9525">
            <a:solidFill>
              <a:srgbClr val="C0A8DC"/>
            </a:solidFill>
            <a:prstDash val="solid"/>
          </a:ln>
        </p:spPr>
      </p:sp>
      <p:sp>
        <p:nvSpPr>
          <p:cNvPr id="9" name="Text 7"/>
          <p:cNvSpPr/>
          <p:nvPr/>
        </p:nvSpPr>
        <p:spPr>
          <a:xfrm>
            <a:off x="704088" y="3959352"/>
            <a:ext cx="5175504" cy="182880"/>
          </a:xfrm>
          <a:prstGeom prst="rect">
            <a:avLst/>
          </a:prstGeom>
          <a:noFill/>
          <a:ln/>
        </p:spPr>
        <p:txBody>
          <a:bodyPr wrap="square" lIns="0" tIns="0" rIns="0" bIns="0" rtlCol="0" anchor="ctr"/>
          <a:lstStyle/>
          <a:p>
            <a:pPr indent="0" marL="0">
              <a:buNone/>
            </a:pPr>
            <a:r>
              <a:rPr lang="en-US" sz="800" spc="150" kern="0" dirty="0">
                <a:solidFill>
                  <a:srgbClr val="5B3490"/>
                </a:solidFill>
                <a:latin typeface="Courier New" pitchFamily="34" charset="0"/>
                <a:ea typeface="Courier New" pitchFamily="34" charset="-122"/>
                <a:cs typeface="Courier New" pitchFamily="34" charset="-120"/>
              </a:rPr>
              <a:t>THE TECHNICAL NAME</a:t>
            </a:r>
            <a:endParaRPr lang="en-US" sz="800" dirty="0"/>
          </a:p>
        </p:txBody>
      </p:sp>
      <p:sp>
        <p:nvSpPr>
          <p:cNvPr id="10" name="Text 8"/>
          <p:cNvSpPr/>
          <p:nvPr/>
        </p:nvSpPr>
        <p:spPr>
          <a:xfrm>
            <a:off x="704088" y="4151376"/>
            <a:ext cx="5175504" cy="228600"/>
          </a:xfrm>
          <a:prstGeom prst="rect">
            <a:avLst/>
          </a:prstGeom>
          <a:noFill/>
          <a:ln/>
        </p:spPr>
        <p:txBody>
          <a:bodyPr wrap="square" lIns="0" tIns="0" rIns="0" bIns="0" rtlCol="0" anchor="ctr"/>
          <a:lstStyle/>
          <a:p>
            <a:pPr indent="0" marL="0">
              <a:buNone/>
            </a:pPr>
            <a:r>
              <a:rPr lang="en-US" sz="1200" b="1" dirty="0">
                <a:solidFill>
                  <a:srgbClr val="0F141C"/>
                </a:solidFill>
                <a:latin typeface="Courier New" pitchFamily="34" charset="0"/>
                <a:ea typeface="Courier New" pitchFamily="34" charset="-122"/>
                <a:cs typeface="Courier New" pitchFamily="34" charset="-120"/>
              </a:rPr>
              <a:t>Shamir Secret Sharing (3 of 4)</a:t>
            </a:r>
            <a:endParaRPr lang="en-US" sz="1200" dirty="0"/>
          </a:p>
        </p:txBody>
      </p:sp>
      <p:sp>
        <p:nvSpPr>
          <p:cNvPr id="11" name="Text 9"/>
          <p:cNvSpPr/>
          <p:nvPr/>
        </p:nvSpPr>
        <p:spPr>
          <a:xfrm>
            <a:off x="704088" y="4407408"/>
            <a:ext cx="5175504" cy="749808"/>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A way of splitting a secret so that a set number of pieces rebuilds it and fewer reveal nothing. Four pieces mean one can be lost without locking everyone out.</a:t>
            </a:r>
            <a:endParaRPr lang="en-US" sz="1100" dirty="0"/>
          </a:p>
        </p:txBody>
      </p:sp>
      <p:sp>
        <p:nvSpPr>
          <p:cNvPr id="12" name="Shape 10"/>
          <p:cNvSpPr/>
          <p:nvPr/>
        </p:nvSpPr>
        <p:spPr>
          <a:xfrm>
            <a:off x="6720840" y="2011680"/>
            <a:ext cx="2011680" cy="841248"/>
          </a:xfrm>
          <a:prstGeom prst="roundRect">
            <a:avLst>
              <a:gd name="adj" fmla="val 4348"/>
            </a:avLst>
          </a:prstGeom>
          <a:solidFill>
            <a:srgbClr val="F2F4F7"/>
          </a:solidFill>
          <a:ln w="9525">
            <a:solidFill>
              <a:srgbClr val="D2D8E0"/>
            </a:solidFill>
            <a:prstDash val="solid"/>
          </a:ln>
        </p:spPr>
      </p:sp>
      <p:sp>
        <p:nvSpPr>
          <p:cNvPr id="13" name="Text 11"/>
          <p:cNvSpPr/>
          <p:nvPr/>
        </p:nvSpPr>
        <p:spPr>
          <a:xfrm>
            <a:off x="6903720" y="2148840"/>
            <a:ext cx="1645920"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Piece 1</a:t>
            </a:r>
            <a:endParaRPr lang="en-US" sz="1300" dirty="0"/>
          </a:p>
        </p:txBody>
      </p:sp>
      <p:sp>
        <p:nvSpPr>
          <p:cNvPr id="14" name="Text 12"/>
          <p:cNvSpPr/>
          <p:nvPr/>
        </p:nvSpPr>
        <p:spPr>
          <a:xfrm>
            <a:off x="6903720" y="2432304"/>
            <a:ext cx="1645920" cy="274320"/>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The exam authority</a:t>
            </a:r>
            <a:endParaRPr lang="en-US" sz="1100" dirty="0"/>
          </a:p>
        </p:txBody>
      </p:sp>
      <p:sp>
        <p:nvSpPr>
          <p:cNvPr id="15" name="Shape 13"/>
          <p:cNvSpPr/>
          <p:nvPr/>
        </p:nvSpPr>
        <p:spPr>
          <a:xfrm>
            <a:off x="8915400" y="2011680"/>
            <a:ext cx="2011680" cy="841248"/>
          </a:xfrm>
          <a:prstGeom prst="roundRect">
            <a:avLst>
              <a:gd name="adj" fmla="val 4348"/>
            </a:avLst>
          </a:prstGeom>
          <a:solidFill>
            <a:srgbClr val="F2F4F7"/>
          </a:solidFill>
          <a:ln w="9525">
            <a:solidFill>
              <a:srgbClr val="D2D8E0"/>
            </a:solidFill>
            <a:prstDash val="solid"/>
          </a:ln>
        </p:spPr>
      </p:sp>
      <p:sp>
        <p:nvSpPr>
          <p:cNvPr id="16" name="Text 14"/>
          <p:cNvSpPr/>
          <p:nvPr/>
        </p:nvSpPr>
        <p:spPr>
          <a:xfrm>
            <a:off x="9098280" y="2148840"/>
            <a:ext cx="1645920"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Piece 2</a:t>
            </a:r>
            <a:endParaRPr lang="en-US" sz="1300" dirty="0"/>
          </a:p>
        </p:txBody>
      </p:sp>
      <p:sp>
        <p:nvSpPr>
          <p:cNvPr id="17" name="Text 15"/>
          <p:cNvSpPr/>
          <p:nvPr/>
        </p:nvSpPr>
        <p:spPr>
          <a:xfrm>
            <a:off x="9098280" y="2432304"/>
            <a:ext cx="1645920" cy="274320"/>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Time-locked — next slide</a:t>
            </a:r>
            <a:endParaRPr lang="en-US" sz="1100" dirty="0"/>
          </a:p>
        </p:txBody>
      </p:sp>
      <p:sp>
        <p:nvSpPr>
          <p:cNvPr id="18" name="Shape 16"/>
          <p:cNvSpPr/>
          <p:nvPr/>
        </p:nvSpPr>
        <p:spPr>
          <a:xfrm>
            <a:off x="6720840" y="2971800"/>
            <a:ext cx="2011680" cy="841248"/>
          </a:xfrm>
          <a:prstGeom prst="roundRect">
            <a:avLst>
              <a:gd name="adj" fmla="val 4348"/>
            </a:avLst>
          </a:prstGeom>
          <a:solidFill>
            <a:srgbClr val="F2F4F7"/>
          </a:solidFill>
          <a:ln w="9525">
            <a:solidFill>
              <a:srgbClr val="D2D8E0"/>
            </a:solidFill>
            <a:prstDash val="solid"/>
          </a:ln>
        </p:spPr>
      </p:sp>
      <p:sp>
        <p:nvSpPr>
          <p:cNvPr id="19" name="Text 17"/>
          <p:cNvSpPr/>
          <p:nvPr/>
        </p:nvSpPr>
        <p:spPr>
          <a:xfrm>
            <a:off x="6903720" y="3108960"/>
            <a:ext cx="1645920"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Piece 3</a:t>
            </a:r>
            <a:endParaRPr lang="en-US" sz="1300" dirty="0"/>
          </a:p>
        </p:txBody>
      </p:sp>
      <p:sp>
        <p:nvSpPr>
          <p:cNvPr id="20" name="Text 18"/>
          <p:cNvSpPr/>
          <p:nvPr/>
        </p:nvSpPr>
        <p:spPr>
          <a:xfrm>
            <a:off x="6903720" y="3392424"/>
            <a:ext cx="1645920" cy="274320"/>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The superintendent</a:t>
            </a:r>
            <a:endParaRPr lang="en-US" sz="1100" dirty="0"/>
          </a:p>
        </p:txBody>
      </p:sp>
      <p:sp>
        <p:nvSpPr>
          <p:cNvPr id="21" name="Shape 19"/>
          <p:cNvSpPr/>
          <p:nvPr/>
        </p:nvSpPr>
        <p:spPr>
          <a:xfrm>
            <a:off x="8915400" y="2971800"/>
            <a:ext cx="2011680" cy="841248"/>
          </a:xfrm>
          <a:prstGeom prst="roundRect">
            <a:avLst>
              <a:gd name="adj" fmla="val 4348"/>
            </a:avLst>
          </a:prstGeom>
          <a:solidFill>
            <a:srgbClr val="F2F4F7"/>
          </a:solidFill>
          <a:ln w="9525">
            <a:solidFill>
              <a:srgbClr val="D2D8E0"/>
            </a:solidFill>
            <a:prstDash val="solid"/>
          </a:ln>
        </p:spPr>
      </p:sp>
      <p:sp>
        <p:nvSpPr>
          <p:cNvPr id="22" name="Text 20"/>
          <p:cNvSpPr/>
          <p:nvPr/>
        </p:nvSpPr>
        <p:spPr>
          <a:xfrm>
            <a:off x="9098280" y="3108960"/>
            <a:ext cx="1645920"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Piece 4</a:t>
            </a:r>
            <a:endParaRPr lang="en-US" sz="1300" dirty="0"/>
          </a:p>
        </p:txBody>
      </p:sp>
      <p:sp>
        <p:nvSpPr>
          <p:cNvPr id="23" name="Text 21"/>
          <p:cNvSpPr/>
          <p:nvPr/>
        </p:nvSpPr>
        <p:spPr>
          <a:xfrm>
            <a:off x="9098280" y="3392424"/>
            <a:ext cx="1645920" cy="274320"/>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The observer</a:t>
            </a:r>
            <a:endParaRPr lang="en-US" sz="1100" dirty="0"/>
          </a:p>
        </p:txBody>
      </p:sp>
      <p:sp>
        <p:nvSpPr>
          <p:cNvPr id="24" name="Shape 22"/>
          <p:cNvSpPr/>
          <p:nvPr/>
        </p:nvSpPr>
        <p:spPr>
          <a:xfrm>
            <a:off x="6720840" y="4114800"/>
            <a:ext cx="4206240" cy="548640"/>
          </a:xfrm>
          <a:prstGeom prst="roundRect">
            <a:avLst>
              <a:gd name="adj" fmla="val 6667"/>
            </a:avLst>
          </a:prstGeom>
          <a:solidFill>
            <a:srgbClr val="FAEDEB"/>
          </a:solidFill>
          <a:ln w="9525">
            <a:solidFill>
              <a:srgbClr val="9E2B24"/>
            </a:solidFill>
            <a:prstDash val="solid"/>
          </a:ln>
        </p:spPr>
      </p:sp>
      <p:sp>
        <p:nvSpPr>
          <p:cNvPr id="25" name="Text 23"/>
          <p:cNvSpPr/>
          <p:nvPr/>
        </p:nvSpPr>
        <p:spPr>
          <a:xfrm>
            <a:off x="6720840" y="4114800"/>
            <a:ext cx="4206240" cy="548640"/>
          </a:xfrm>
          <a:prstGeom prst="rect">
            <a:avLst/>
          </a:prstGeom>
          <a:noFill/>
          <a:ln/>
        </p:spPr>
        <p:txBody>
          <a:bodyPr wrap="square" lIns="0" tIns="0" rIns="0" bIns="0" rtlCol="0" anchor="ctr"/>
          <a:lstStyle/>
          <a:p>
            <a:pPr algn="ctr" indent="0" marL="0">
              <a:buNone/>
            </a:pPr>
            <a:r>
              <a:rPr lang="en-US" sz="1200" b="1" dirty="0">
                <a:solidFill>
                  <a:srgbClr val="9E2B24"/>
                </a:solidFill>
                <a:latin typeface="Calibri" pitchFamily="34" charset="0"/>
                <a:ea typeface="Calibri" pitchFamily="34" charset="-122"/>
                <a:cs typeface="Calibri" pitchFamily="34" charset="-120"/>
              </a:rPr>
              <a:t>2 pieces  →  nothing</a:t>
            </a:r>
            <a:endParaRPr lang="en-US" sz="1200" dirty="0"/>
          </a:p>
        </p:txBody>
      </p:sp>
      <p:sp>
        <p:nvSpPr>
          <p:cNvPr id="26" name="Shape 24"/>
          <p:cNvSpPr/>
          <p:nvPr/>
        </p:nvSpPr>
        <p:spPr>
          <a:xfrm>
            <a:off x="6720840" y="4800600"/>
            <a:ext cx="4206240" cy="548640"/>
          </a:xfrm>
          <a:prstGeom prst="roundRect">
            <a:avLst>
              <a:gd name="adj" fmla="val 6667"/>
            </a:avLst>
          </a:prstGeom>
          <a:solidFill>
            <a:srgbClr val="E8F2ED"/>
          </a:solidFill>
          <a:ln w="9525">
            <a:solidFill>
              <a:srgbClr val="24604A"/>
            </a:solidFill>
            <a:prstDash val="solid"/>
          </a:ln>
        </p:spPr>
      </p:sp>
      <p:sp>
        <p:nvSpPr>
          <p:cNvPr id="27" name="Text 25"/>
          <p:cNvSpPr/>
          <p:nvPr/>
        </p:nvSpPr>
        <p:spPr>
          <a:xfrm>
            <a:off x="6720840" y="4800600"/>
            <a:ext cx="4206240" cy="548640"/>
          </a:xfrm>
          <a:prstGeom prst="rect">
            <a:avLst/>
          </a:prstGeom>
          <a:noFill/>
          <a:ln/>
        </p:spPr>
        <p:txBody>
          <a:bodyPr wrap="square" lIns="0" tIns="0" rIns="0" bIns="0" rtlCol="0" anchor="ctr"/>
          <a:lstStyle/>
          <a:p>
            <a:pPr algn="ctr" indent="0" marL="0">
              <a:buNone/>
            </a:pPr>
            <a:r>
              <a:rPr lang="en-US" sz="1200" b="1" dirty="0">
                <a:solidFill>
                  <a:srgbClr val="24604A"/>
                </a:solidFill>
                <a:latin typeface="Calibri" pitchFamily="34" charset="0"/>
                <a:ea typeface="Calibri" pitchFamily="34" charset="-122"/>
                <a:cs typeface="Calibri" pitchFamily="34" charset="-120"/>
              </a:rPr>
              <a:t>3 pieces  →  key rebuilt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06</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AT THE PRESS</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One piece doesn’t exist yet.</a:t>
            </a:r>
            <a:endParaRPr lang="en-US" sz="3000" dirty="0"/>
          </a:p>
        </p:txBody>
      </p:sp>
      <p:sp>
        <p:nvSpPr>
          <p:cNvPr id="6" name="Text 4"/>
          <p:cNvSpPr/>
          <p:nvPr/>
        </p:nvSpPr>
        <p:spPr>
          <a:xfrm>
            <a:off x="502920" y="1965960"/>
            <a:ext cx="5577840" cy="1097280"/>
          </a:xfrm>
          <a:prstGeom prst="rect">
            <a:avLst/>
          </a:prstGeom>
          <a:noFill/>
          <a:ln/>
        </p:spPr>
        <p:txBody>
          <a:bodyPr wrap="square" lIns="0" tIns="0" rIns="0" bIns="0" rtlCol="0" anchor="t"/>
          <a:lstStyle/>
          <a:p>
            <a:pPr indent="0" marL="0">
              <a:lnSpc>
                <a:spcPct val="118000"/>
              </a:lnSpc>
              <a:buNone/>
            </a:pPr>
            <a:r>
              <a:rPr lang="en-US" sz="1700" dirty="0">
                <a:solidFill>
                  <a:srgbClr val="0F141C"/>
                </a:solidFill>
                <a:latin typeface="Cambria" pitchFamily="34" charset="0"/>
                <a:ea typeface="Cambria" pitchFamily="34" charset="-122"/>
                <a:cs typeface="Cambria" pitchFamily="34" charset="-120"/>
              </a:rPr>
              <a:t>The second piece cannot be stolen, leaked, or demanded — because until the exam hour there is nothing there to take.</a:t>
            </a:r>
            <a:endParaRPr lang="en-US" sz="1700" dirty="0"/>
          </a:p>
        </p:txBody>
      </p:sp>
      <p:sp>
        <p:nvSpPr>
          <p:cNvPr id="7" name="Text 5"/>
          <p:cNvSpPr/>
          <p:nvPr/>
        </p:nvSpPr>
        <p:spPr>
          <a:xfrm>
            <a:off x="502920" y="3200400"/>
            <a:ext cx="5577840" cy="502920"/>
          </a:xfrm>
          <a:prstGeom prst="rect">
            <a:avLst/>
          </a:prstGeom>
          <a:noFill/>
          <a:ln/>
        </p:spPr>
        <p:txBody>
          <a:bodyPr wrap="square" lIns="0" tIns="0" rIns="0" bIns="0" rtlCol="0" anchor="t"/>
          <a:lstStyle/>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It becomes available on a public schedule that nobody can hurry, not even us.</a:t>
            </a:r>
            <a:endParaRPr lang="en-US" sz="1300" dirty="0"/>
          </a:p>
        </p:txBody>
      </p:sp>
      <p:sp>
        <p:nvSpPr>
          <p:cNvPr id="8" name="Shape 6"/>
          <p:cNvSpPr/>
          <p:nvPr/>
        </p:nvSpPr>
        <p:spPr>
          <a:xfrm>
            <a:off x="502920" y="3840480"/>
            <a:ext cx="5577840" cy="1463040"/>
          </a:xfrm>
          <a:prstGeom prst="roundRect">
            <a:avLst>
              <a:gd name="adj" fmla="val 2500"/>
            </a:avLst>
          </a:prstGeom>
          <a:solidFill>
            <a:srgbClr val="F2ECFA"/>
          </a:solidFill>
          <a:ln w="9525">
            <a:solidFill>
              <a:srgbClr val="C0A8DC"/>
            </a:solidFill>
            <a:prstDash val="solid"/>
          </a:ln>
        </p:spPr>
      </p:sp>
      <p:sp>
        <p:nvSpPr>
          <p:cNvPr id="9" name="Text 7"/>
          <p:cNvSpPr/>
          <p:nvPr/>
        </p:nvSpPr>
        <p:spPr>
          <a:xfrm>
            <a:off x="704088" y="3959352"/>
            <a:ext cx="5175504" cy="182880"/>
          </a:xfrm>
          <a:prstGeom prst="rect">
            <a:avLst/>
          </a:prstGeom>
          <a:noFill/>
          <a:ln/>
        </p:spPr>
        <p:txBody>
          <a:bodyPr wrap="square" lIns="0" tIns="0" rIns="0" bIns="0" rtlCol="0" anchor="ctr"/>
          <a:lstStyle/>
          <a:p>
            <a:pPr indent="0" marL="0">
              <a:buNone/>
            </a:pPr>
            <a:r>
              <a:rPr lang="en-US" sz="800" spc="150" kern="0" dirty="0">
                <a:solidFill>
                  <a:srgbClr val="5B3490"/>
                </a:solidFill>
                <a:latin typeface="Courier New" pitchFamily="34" charset="0"/>
                <a:ea typeface="Courier New" pitchFamily="34" charset="-122"/>
                <a:cs typeface="Courier New" pitchFamily="34" charset="-120"/>
              </a:rPr>
              <a:t>THE TECHNICAL NAME</a:t>
            </a:r>
            <a:endParaRPr lang="en-US" sz="800" dirty="0"/>
          </a:p>
        </p:txBody>
      </p:sp>
      <p:sp>
        <p:nvSpPr>
          <p:cNvPr id="10" name="Text 8"/>
          <p:cNvSpPr/>
          <p:nvPr/>
        </p:nvSpPr>
        <p:spPr>
          <a:xfrm>
            <a:off x="704088" y="4151376"/>
            <a:ext cx="5175504" cy="228600"/>
          </a:xfrm>
          <a:prstGeom prst="rect">
            <a:avLst/>
          </a:prstGeom>
          <a:noFill/>
          <a:ln/>
        </p:spPr>
        <p:txBody>
          <a:bodyPr wrap="square" lIns="0" tIns="0" rIns="0" bIns="0" rtlCol="0" anchor="ctr"/>
          <a:lstStyle/>
          <a:p>
            <a:pPr indent="0" marL="0">
              <a:buNone/>
            </a:pPr>
            <a:r>
              <a:rPr lang="en-US" sz="1200" b="1" dirty="0">
                <a:solidFill>
                  <a:srgbClr val="0F141C"/>
                </a:solidFill>
                <a:latin typeface="Courier New" pitchFamily="34" charset="0"/>
                <a:ea typeface="Courier New" pitchFamily="34" charset="-122"/>
                <a:cs typeface="Courier New" pitchFamily="34" charset="-120"/>
              </a:rPr>
              <a:t>timelock encryption (drand)</a:t>
            </a:r>
            <a:endParaRPr lang="en-US" sz="1200" dirty="0"/>
          </a:p>
        </p:txBody>
      </p:sp>
      <p:sp>
        <p:nvSpPr>
          <p:cNvPr id="11" name="Text 9"/>
          <p:cNvSpPr/>
          <p:nvPr/>
        </p:nvSpPr>
        <p:spPr>
          <a:xfrm>
            <a:off x="704088" y="4407408"/>
            <a:ext cx="5175504" cy="749808"/>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A public service publishes an unpredictable value on a fixed clock. Data can be locked to a future publication and cannot be opened before it arrives.</a:t>
            </a:r>
            <a:endParaRPr lang="en-US" sz="1100" dirty="0"/>
          </a:p>
        </p:txBody>
      </p:sp>
      <p:sp>
        <p:nvSpPr>
          <p:cNvPr id="12" name="Shape 10"/>
          <p:cNvSpPr/>
          <p:nvPr/>
        </p:nvSpPr>
        <p:spPr>
          <a:xfrm>
            <a:off x="6446520" y="1965960"/>
            <a:ext cx="5212080" cy="3337560"/>
          </a:xfrm>
          <a:prstGeom prst="roundRect">
            <a:avLst>
              <a:gd name="adj" fmla="val 1096"/>
            </a:avLst>
          </a:prstGeom>
          <a:solidFill>
            <a:srgbClr val="F2ECFA"/>
          </a:solidFill>
          <a:ln w="9525">
            <a:solidFill>
              <a:srgbClr val="C0A8DC"/>
            </a:solidFill>
            <a:prstDash val="solid"/>
          </a:ln>
        </p:spPr>
      </p:sp>
      <p:sp>
        <p:nvSpPr>
          <p:cNvPr id="13" name="Text 11"/>
          <p:cNvSpPr/>
          <p:nvPr/>
        </p:nvSpPr>
        <p:spPr>
          <a:xfrm>
            <a:off x="6629400" y="2103120"/>
            <a:ext cx="4846320" cy="256032"/>
          </a:xfrm>
          <a:prstGeom prst="rect">
            <a:avLst/>
          </a:prstGeom>
          <a:noFill/>
          <a:ln/>
        </p:spPr>
        <p:txBody>
          <a:bodyPr wrap="square" lIns="0" tIns="0" rIns="0" bIns="0" rtlCol="0" anchor="ctr"/>
          <a:lstStyle/>
          <a:p>
            <a:pPr indent="0" marL="0">
              <a:buNone/>
            </a:pPr>
            <a:r>
              <a:rPr lang="en-US" sz="1300" b="1" dirty="0">
                <a:solidFill>
                  <a:srgbClr val="5B3490"/>
                </a:solidFill>
                <a:latin typeface="Calibri" pitchFamily="34" charset="0"/>
                <a:ea typeface="Calibri" pitchFamily="34" charset="-122"/>
                <a:cs typeface="Calibri" pitchFamily="34" charset="-120"/>
              </a:rPr>
              <a:t>Why this is the strongest claim we make</a:t>
            </a:r>
            <a:endParaRPr lang="en-US" sz="1300" dirty="0"/>
          </a:p>
        </p:txBody>
      </p:sp>
      <p:sp>
        <p:nvSpPr>
          <p:cNvPr id="14" name="Text 12"/>
          <p:cNvSpPr/>
          <p:nvPr/>
        </p:nvSpPr>
        <p:spPr>
          <a:xfrm>
            <a:off x="6629400" y="2386584"/>
            <a:ext cx="4846320" cy="2770632"/>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Every other control here is detective — it records what happened so it cannot be denied later.</a:t>
            </a:r>
            <a:endParaRPr lang="en-US" sz="1100" dirty="0"/>
          </a:p>
          <a:p>
            <a:pPr indent="0" marL="0">
              <a:lnSpc>
                <a:spcPct val="118000"/>
              </a:lnSpc>
              <a:buNone/>
            </a:pPr>
            <a:endParaRPr lang="en-US" sz="1100" dirty="0"/>
          </a:p>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This one is preventive: early release is not merely detectable, it is impossible. And it is mathematics doing the work rather than policy, which means it does not depend on anyone behaving well.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07</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THROUGHOUT</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A register where tearing out a page is obvious.</a:t>
            </a:r>
            <a:endParaRPr lang="en-US" sz="3000" dirty="0"/>
          </a:p>
        </p:txBody>
      </p:sp>
      <p:sp>
        <p:nvSpPr>
          <p:cNvPr id="6" name="Text 4"/>
          <p:cNvSpPr/>
          <p:nvPr/>
        </p:nvSpPr>
        <p:spPr>
          <a:xfrm>
            <a:off x="502920" y="1920240"/>
            <a:ext cx="5394960" cy="1097280"/>
          </a:xfrm>
          <a:prstGeom prst="rect">
            <a:avLst/>
          </a:prstGeom>
          <a:noFill/>
          <a:ln/>
        </p:spPr>
        <p:txBody>
          <a:bodyPr wrap="square" lIns="0" tIns="0" rIns="0" bIns="0" rtlCol="0" anchor="t"/>
          <a:lstStyle/>
          <a:p>
            <a:pPr indent="0" marL="0">
              <a:lnSpc>
                <a:spcPct val="118000"/>
              </a:lnSpc>
              <a:buNone/>
            </a:pPr>
            <a:r>
              <a:rPr lang="en-US" sz="1700" dirty="0">
                <a:solidFill>
                  <a:srgbClr val="0F141C"/>
                </a:solidFill>
                <a:latin typeface="Cambria" pitchFamily="34" charset="0"/>
                <a:ea typeface="Cambria" pitchFamily="34" charset="-122"/>
                <a:cs typeface="Cambria" pitchFamily="34" charset="-120"/>
              </a:rPr>
              <a:t>Every record includes a summary of the record before it. Change an old entry and every entry after it stops matching.</a:t>
            </a:r>
            <a:endParaRPr lang="en-US" sz="1700" dirty="0"/>
          </a:p>
        </p:txBody>
      </p:sp>
      <p:sp>
        <p:nvSpPr>
          <p:cNvPr id="7" name="Shape 5"/>
          <p:cNvSpPr/>
          <p:nvPr/>
        </p:nvSpPr>
        <p:spPr>
          <a:xfrm>
            <a:off x="502920" y="3154680"/>
            <a:ext cx="5394960" cy="1691640"/>
          </a:xfrm>
          <a:prstGeom prst="roundRect">
            <a:avLst>
              <a:gd name="adj" fmla="val 2162"/>
            </a:avLst>
          </a:prstGeom>
          <a:solidFill>
            <a:srgbClr val="F2ECFA"/>
          </a:solidFill>
          <a:ln w="9525">
            <a:solidFill>
              <a:srgbClr val="C0A8DC"/>
            </a:solidFill>
            <a:prstDash val="solid"/>
          </a:ln>
        </p:spPr>
      </p:sp>
      <p:sp>
        <p:nvSpPr>
          <p:cNvPr id="8" name="Text 6"/>
          <p:cNvSpPr/>
          <p:nvPr/>
        </p:nvSpPr>
        <p:spPr>
          <a:xfrm>
            <a:off x="704088" y="3273552"/>
            <a:ext cx="4992624" cy="182880"/>
          </a:xfrm>
          <a:prstGeom prst="rect">
            <a:avLst/>
          </a:prstGeom>
          <a:noFill/>
          <a:ln/>
        </p:spPr>
        <p:txBody>
          <a:bodyPr wrap="square" lIns="0" tIns="0" rIns="0" bIns="0" rtlCol="0" anchor="ctr"/>
          <a:lstStyle/>
          <a:p>
            <a:pPr indent="0" marL="0">
              <a:buNone/>
            </a:pPr>
            <a:r>
              <a:rPr lang="en-US" sz="800" spc="150" kern="0" dirty="0">
                <a:solidFill>
                  <a:srgbClr val="5B3490"/>
                </a:solidFill>
                <a:latin typeface="Courier New" pitchFamily="34" charset="0"/>
                <a:ea typeface="Courier New" pitchFamily="34" charset="-122"/>
                <a:cs typeface="Courier New" pitchFamily="34" charset="-120"/>
              </a:rPr>
              <a:t>THE TECHNICAL NAME</a:t>
            </a:r>
            <a:endParaRPr lang="en-US" sz="800" dirty="0"/>
          </a:p>
        </p:txBody>
      </p:sp>
      <p:sp>
        <p:nvSpPr>
          <p:cNvPr id="9" name="Text 7"/>
          <p:cNvSpPr/>
          <p:nvPr/>
        </p:nvSpPr>
        <p:spPr>
          <a:xfrm>
            <a:off x="704088" y="3465576"/>
            <a:ext cx="4992624" cy="228600"/>
          </a:xfrm>
          <a:prstGeom prst="rect">
            <a:avLst/>
          </a:prstGeom>
          <a:noFill/>
          <a:ln/>
        </p:spPr>
        <p:txBody>
          <a:bodyPr wrap="square" lIns="0" tIns="0" rIns="0" bIns="0" rtlCol="0" anchor="ctr"/>
          <a:lstStyle/>
          <a:p>
            <a:pPr indent="0" marL="0">
              <a:buNone/>
            </a:pPr>
            <a:r>
              <a:rPr lang="en-US" sz="1200" b="1" dirty="0">
                <a:solidFill>
                  <a:srgbClr val="0F141C"/>
                </a:solidFill>
                <a:latin typeface="Courier New" pitchFamily="34" charset="0"/>
                <a:ea typeface="Courier New" pitchFamily="34" charset="-122"/>
                <a:cs typeface="Courier New" pitchFamily="34" charset="-120"/>
              </a:rPr>
              <a:t>hash chain · SHA-256 · Ed25519</a:t>
            </a:r>
            <a:endParaRPr lang="en-US" sz="1200" dirty="0"/>
          </a:p>
        </p:txBody>
      </p:sp>
      <p:sp>
        <p:nvSpPr>
          <p:cNvPr id="10" name="Text 8"/>
          <p:cNvSpPr/>
          <p:nvPr/>
        </p:nvSpPr>
        <p:spPr>
          <a:xfrm>
            <a:off x="704088" y="3721608"/>
            <a:ext cx="4992624" cy="978408"/>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A hash is a short fingerprint of data — change one letter and the fingerprint changes completely. A signature proves which device wrote it. Together: you can tell what was written, by whom, and in what order.</a:t>
            </a:r>
            <a:endParaRPr lang="en-US" sz="1100" dirty="0"/>
          </a:p>
        </p:txBody>
      </p:sp>
      <p:sp>
        <p:nvSpPr>
          <p:cNvPr id="11" name="Shape 9"/>
          <p:cNvSpPr/>
          <p:nvPr/>
        </p:nvSpPr>
        <p:spPr>
          <a:xfrm>
            <a:off x="502920" y="4983480"/>
            <a:ext cx="5394960" cy="1371600"/>
          </a:xfrm>
          <a:prstGeom prst="roundRect">
            <a:avLst>
              <a:gd name="adj" fmla="val 2667"/>
            </a:avLst>
          </a:prstGeom>
          <a:solidFill>
            <a:srgbClr val="F2F4F7"/>
          </a:solidFill>
          <a:ln w="9525">
            <a:solidFill>
              <a:srgbClr val="D2D8E0"/>
            </a:solidFill>
            <a:prstDash val="solid"/>
          </a:ln>
        </p:spPr>
      </p:sp>
      <p:sp>
        <p:nvSpPr>
          <p:cNvPr id="12" name="Text 10"/>
          <p:cNvSpPr/>
          <p:nvPr/>
        </p:nvSpPr>
        <p:spPr>
          <a:xfrm>
            <a:off x="685800" y="5120640"/>
            <a:ext cx="5029200"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This is not a blockchain</a:t>
            </a:r>
            <a:endParaRPr lang="en-US" sz="1300" dirty="0"/>
          </a:p>
        </p:txBody>
      </p:sp>
      <p:sp>
        <p:nvSpPr>
          <p:cNvPr id="13" name="Text 11"/>
          <p:cNvSpPr/>
          <p:nvPr/>
        </p:nvSpPr>
        <p:spPr>
          <a:xfrm>
            <a:off x="685800" y="5404104"/>
            <a:ext cx="5029200" cy="804672"/>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A blockchain exists so that many parties who distrust each other can agree on a shared record. Here there is one exam board — the risk is people inside it rewriting history, and that is solved by signatures and database permissions, without a network of miners.</a:t>
            </a:r>
            <a:endParaRPr lang="en-US" sz="1100" dirty="0"/>
          </a:p>
        </p:txBody>
      </p:sp>
      <p:sp>
        <p:nvSpPr>
          <p:cNvPr id="14" name="Shape 12"/>
          <p:cNvSpPr/>
          <p:nvPr/>
        </p:nvSpPr>
        <p:spPr>
          <a:xfrm>
            <a:off x="6537960" y="2148840"/>
            <a:ext cx="1828800" cy="548640"/>
          </a:xfrm>
          <a:prstGeom prst="roundRect">
            <a:avLst>
              <a:gd name="adj" fmla="val 6667"/>
            </a:avLst>
          </a:prstGeom>
          <a:solidFill>
            <a:srgbClr val="F2F4F7"/>
          </a:solidFill>
          <a:ln w="9525">
            <a:solidFill>
              <a:srgbClr val="D2D8E0"/>
            </a:solidFill>
            <a:prstDash val="solid"/>
          </a:ln>
        </p:spPr>
      </p:sp>
      <p:sp>
        <p:nvSpPr>
          <p:cNvPr id="15" name="Text 13"/>
          <p:cNvSpPr/>
          <p:nvPr/>
        </p:nvSpPr>
        <p:spPr>
          <a:xfrm>
            <a:off x="6537960" y="2148840"/>
            <a:ext cx="1828800" cy="548640"/>
          </a:xfrm>
          <a:prstGeom prst="rect">
            <a:avLst/>
          </a:prstGeom>
          <a:noFill/>
          <a:ln/>
        </p:spPr>
        <p:txBody>
          <a:bodyPr wrap="square" lIns="0" tIns="0" rIns="0" bIns="0" rtlCol="0" anchor="ctr"/>
          <a:lstStyle/>
          <a:p>
            <a:pPr algn="ctr" indent="0" marL="0">
              <a:buNone/>
            </a:pPr>
            <a:r>
              <a:rPr lang="en-US" sz="1000" dirty="0">
                <a:solidFill>
                  <a:srgbClr val="0F141C"/>
                </a:solidFill>
                <a:latin typeface="Courier New" pitchFamily="34" charset="0"/>
                <a:ea typeface="Courier New" pitchFamily="34" charset="-122"/>
                <a:cs typeface="Courier New" pitchFamily="34" charset="-120"/>
              </a:rPr>
              <a:t>Record 1001</a:t>
            </a:r>
            <a:endParaRPr lang="en-US" sz="1000" dirty="0"/>
          </a:p>
        </p:txBody>
      </p:sp>
      <p:sp>
        <p:nvSpPr>
          <p:cNvPr id="16" name="Shape 14"/>
          <p:cNvSpPr/>
          <p:nvPr/>
        </p:nvSpPr>
        <p:spPr>
          <a:xfrm>
            <a:off x="8549640" y="2148840"/>
            <a:ext cx="2606040" cy="548640"/>
          </a:xfrm>
          <a:prstGeom prst="roundRect">
            <a:avLst>
              <a:gd name="adj" fmla="val 6667"/>
            </a:avLst>
          </a:prstGeom>
          <a:solidFill>
            <a:srgbClr val="F2ECFA"/>
          </a:solidFill>
          <a:ln w="9525">
            <a:solidFill>
              <a:srgbClr val="C0A8DC"/>
            </a:solidFill>
            <a:prstDash val="solid"/>
          </a:ln>
        </p:spPr>
      </p:sp>
      <p:sp>
        <p:nvSpPr>
          <p:cNvPr id="17" name="Text 15"/>
          <p:cNvSpPr/>
          <p:nvPr/>
        </p:nvSpPr>
        <p:spPr>
          <a:xfrm>
            <a:off x="8549640" y="2148840"/>
            <a:ext cx="2606040" cy="548640"/>
          </a:xfrm>
          <a:prstGeom prst="rect">
            <a:avLst/>
          </a:prstGeom>
          <a:noFill/>
          <a:ln/>
        </p:spPr>
        <p:txBody>
          <a:bodyPr wrap="square" lIns="0" tIns="0" rIns="0" bIns="0" rtlCol="0" anchor="ctr"/>
          <a:lstStyle/>
          <a:p>
            <a:pPr algn="ctr" indent="0" marL="0">
              <a:buNone/>
            </a:pPr>
            <a:r>
              <a:rPr lang="en-US" sz="1000" dirty="0">
                <a:solidFill>
                  <a:srgbClr val="5B3490"/>
                </a:solidFill>
                <a:latin typeface="Calibri" pitchFamily="34" charset="0"/>
                <a:ea typeface="Calibri" pitchFamily="34" charset="-122"/>
                <a:cs typeface="Calibri" pitchFamily="34" charset="-120"/>
              </a:rPr>
              <a:t>→ hash A</a:t>
            </a:r>
            <a:endParaRPr lang="en-US" sz="1000" dirty="0"/>
          </a:p>
        </p:txBody>
      </p:sp>
      <p:sp>
        <p:nvSpPr>
          <p:cNvPr id="18" name="Text 16"/>
          <p:cNvSpPr/>
          <p:nvPr/>
        </p:nvSpPr>
        <p:spPr>
          <a:xfrm>
            <a:off x="6537960" y="2743200"/>
            <a:ext cx="4617720" cy="548640"/>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6537960" y="3383280"/>
            <a:ext cx="1828800" cy="548640"/>
          </a:xfrm>
          <a:prstGeom prst="roundRect">
            <a:avLst>
              <a:gd name="adj" fmla="val 6667"/>
            </a:avLst>
          </a:prstGeom>
          <a:solidFill>
            <a:srgbClr val="F2F4F7"/>
          </a:solidFill>
          <a:ln w="9525">
            <a:solidFill>
              <a:srgbClr val="D2D8E0"/>
            </a:solidFill>
            <a:prstDash val="solid"/>
          </a:ln>
        </p:spPr>
      </p:sp>
      <p:sp>
        <p:nvSpPr>
          <p:cNvPr id="20" name="Text 18"/>
          <p:cNvSpPr/>
          <p:nvPr/>
        </p:nvSpPr>
        <p:spPr>
          <a:xfrm>
            <a:off x="6537960" y="3383280"/>
            <a:ext cx="1828800" cy="548640"/>
          </a:xfrm>
          <a:prstGeom prst="rect">
            <a:avLst/>
          </a:prstGeom>
          <a:noFill/>
          <a:ln/>
        </p:spPr>
        <p:txBody>
          <a:bodyPr wrap="square" lIns="0" tIns="0" rIns="0" bIns="0" rtlCol="0" anchor="ctr"/>
          <a:lstStyle/>
          <a:p>
            <a:pPr algn="ctr" indent="0" marL="0">
              <a:buNone/>
            </a:pPr>
            <a:r>
              <a:rPr lang="en-US" sz="1000" dirty="0">
                <a:solidFill>
                  <a:srgbClr val="0F141C"/>
                </a:solidFill>
                <a:latin typeface="Courier New" pitchFamily="34" charset="0"/>
                <a:ea typeface="Courier New" pitchFamily="34" charset="-122"/>
                <a:cs typeface="Courier New" pitchFamily="34" charset="-120"/>
              </a:rPr>
              <a:t>Record 1002</a:t>
            </a:r>
            <a:endParaRPr lang="en-US" sz="1000" dirty="0"/>
          </a:p>
        </p:txBody>
      </p:sp>
      <p:sp>
        <p:nvSpPr>
          <p:cNvPr id="21" name="Shape 19"/>
          <p:cNvSpPr/>
          <p:nvPr/>
        </p:nvSpPr>
        <p:spPr>
          <a:xfrm>
            <a:off x="8549640" y="3383280"/>
            <a:ext cx="2606040" cy="548640"/>
          </a:xfrm>
          <a:prstGeom prst="roundRect">
            <a:avLst>
              <a:gd name="adj" fmla="val 6667"/>
            </a:avLst>
          </a:prstGeom>
          <a:solidFill>
            <a:srgbClr val="F2ECFA"/>
          </a:solidFill>
          <a:ln w="9525">
            <a:solidFill>
              <a:srgbClr val="C0A8DC"/>
            </a:solidFill>
            <a:prstDash val="solid"/>
          </a:ln>
        </p:spPr>
      </p:sp>
      <p:sp>
        <p:nvSpPr>
          <p:cNvPr id="22" name="Text 20"/>
          <p:cNvSpPr/>
          <p:nvPr/>
        </p:nvSpPr>
        <p:spPr>
          <a:xfrm>
            <a:off x="8549640" y="3383280"/>
            <a:ext cx="2606040" cy="548640"/>
          </a:xfrm>
          <a:prstGeom prst="rect">
            <a:avLst/>
          </a:prstGeom>
          <a:noFill/>
          <a:ln/>
        </p:spPr>
        <p:txBody>
          <a:bodyPr wrap="square" lIns="0" tIns="0" rIns="0" bIns="0" rtlCol="0" anchor="ctr"/>
          <a:lstStyle/>
          <a:p>
            <a:pPr algn="ctr" indent="0" marL="0">
              <a:buNone/>
            </a:pPr>
            <a:r>
              <a:rPr lang="en-US" sz="1000" dirty="0">
                <a:solidFill>
                  <a:srgbClr val="5B3490"/>
                </a:solidFill>
                <a:latin typeface="Calibri" pitchFamily="34" charset="0"/>
                <a:ea typeface="Calibri" pitchFamily="34" charset="-122"/>
                <a:cs typeface="Calibri" pitchFamily="34" charset="-120"/>
              </a:rPr>
              <a:t>carries hash A  → hash B</a:t>
            </a:r>
            <a:endParaRPr lang="en-US" sz="1000" dirty="0"/>
          </a:p>
        </p:txBody>
      </p:sp>
      <p:sp>
        <p:nvSpPr>
          <p:cNvPr id="23" name="Text 21"/>
          <p:cNvSpPr/>
          <p:nvPr/>
        </p:nvSpPr>
        <p:spPr>
          <a:xfrm>
            <a:off x="6537960" y="3977640"/>
            <a:ext cx="4617720" cy="548640"/>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24" name="Shape 22"/>
          <p:cNvSpPr/>
          <p:nvPr/>
        </p:nvSpPr>
        <p:spPr>
          <a:xfrm>
            <a:off x="6537960" y="4617720"/>
            <a:ext cx="1828800" cy="548640"/>
          </a:xfrm>
          <a:prstGeom prst="roundRect">
            <a:avLst>
              <a:gd name="adj" fmla="val 6667"/>
            </a:avLst>
          </a:prstGeom>
          <a:solidFill>
            <a:srgbClr val="F2F4F7"/>
          </a:solidFill>
          <a:ln w="9525">
            <a:solidFill>
              <a:srgbClr val="D2D8E0"/>
            </a:solidFill>
            <a:prstDash val="solid"/>
          </a:ln>
        </p:spPr>
      </p:sp>
      <p:sp>
        <p:nvSpPr>
          <p:cNvPr id="25" name="Text 23"/>
          <p:cNvSpPr/>
          <p:nvPr/>
        </p:nvSpPr>
        <p:spPr>
          <a:xfrm>
            <a:off x="6537960" y="4617720"/>
            <a:ext cx="1828800" cy="548640"/>
          </a:xfrm>
          <a:prstGeom prst="rect">
            <a:avLst/>
          </a:prstGeom>
          <a:noFill/>
          <a:ln/>
        </p:spPr>
        <p:txBody>
          <a:bodyPr wrap="square" lIns="0" tIns="0" rIns="0" bIns="0" rtlCol="0" anchor="ctr"/>
          <a:lstStyle/>
          <a:p>
            <a:pPr algn="ctr" indent="0" marL="0">
              <a:buNone/>
            </a:pPr>
            <a:r>
              <a:rPr lang="en-US" sz="1000" dirty="0">
                <a:solidFill>
                  <a:srgbClr val="0F141C"/>
                </a:solidFill>
                <a:latin typeface="Courier New" pitchFamily="34" charset="0"/>
                <a:ea typeface="Courier New" pitchFamily="34" charset="-122"/>
                <a:cs typeface="Courier New" pitchFamily="34" charset="-120"/>
              </a:rPr>
              <a:t>Record 1003</a:t>
            </a:r>
            <a:endParaRPr lang="en-US" sz="1000" dirty="0"/>
          </a:p>
        </p:txBody>
      </p:sp>
      <p:sp>
        <p:nvSpPr>
          <p:cNvPr id="26" name="Shape 24"/>
          <p:cNvSpPr/>
          <p:nvPr/>
        </p:nvSpPr>
        <p:spPr>
          <a:xfrm>
            <a:off x="8549640" y="4617720"/>
            <a:ext cx="2606040" cy="548640"/>
          </a:xfrm>
          <a:prstGeom prst="roundRect">
            <a:avLst>
              <a:gd name="adj" fmla="val 6667"/>
            </a:avLst>
          </a:prstGeom>
          <a:solidFill>
            <a:srgbClr val="F2ECFA"/>
          </a:solidFill>
          <a:ln w="9525">
            <a:solidFill>
              <a:srgbClr val="C0A8DC"/>
            </a:solidFill>
            <a:prstDash val="solid"/>
          </a:ln>
        </p:spPr>
      </p:sp>
      <p:sp>
        <p:nvSpPr>
          <p:cNvPr id="27" name="Text 25"/>
          <p:cNvSpPr/>
          <p:nvPr/>
        </p:nvSpPr>
        <p:spPr>
          <a:xfrm>
            <a:off x="8549640" y="4617720"/>
            <a:ext cx="2606040" cy="548640"/>
          </a:xfrm>
          <a:prstGeom prst="rect">
            <a:avLst/>
          </a:prstGeom>
          <a:noFill/>
          <a:ln/>
        </p:spPr>
        <p:txBody>
          <a:bodyPr wrap="square" lIns="0" tIns="0" rIns="0" bIns="0" rtlCol="0" anchor="ctr"/>
          <a:lstStyle/>
          <a:p>
            <a:pPr algn="ctr" indent="0" marL="0">
              <a:buNone/>
            </a:pPr>
            <a:r>
              <a:rPr lang="en-US" sz="1000" dirty="0">
                <a:solidFill>
                  <a:srgbClr val="5B3490"/>
                </a:solidFill>
                <a:latin typeface="Calibri" pitchFamily="34" charset="0"/>
                <a:ea typeface="Calibri" pitchFamily="34" charset="-122"/>
                <a:cs typeface="Calibri" pitchFamily="34" charset="-120"/>
              </a:rPr>
              <a:t>carries hash B  → hash C</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08</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ON THE ROAD</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Every handover needs two signatures.</a:t>
            </a:r>
            <a:endParaRPr lang="en-US" sz="3000" dirty="0"/>
          </a:p>
        </p:txBody>
      </p:sp>
      <p:sp>
        <p:nvSpPr>
          <p:cNvPr id="6" name="Text 4"/>
          <p:cNvSpPr/>
          <p:nvPr/>
        </p:nvSpPr>
        <p:spPr>
          <a:xfrm>
            <a:off x="502920" y="1965960"/>
            <a:ext cx="5577840" cy="1143000"/>
          </a:xfrm>
          <a:prstGeom prst="rect">
            <a:avLst/>
          </a:prstGeom>
          <a:noFill/>
          <a:ln/>
        </p:spPr>
        <p:txBody>
          <a:bodyPr wrap="square" lIns="0" tIns="0" rIns="0" bIns="0" rtlCol="0" anchor="t"/>
          <a:lstStyle/>
          <a:p>
            <a:pPr indent="0" marL="0">
              <a:lnSpc>
                <a:spcPct val="118000"/>
              </a:lnSpc>
              <a:buNone/>
            </a:pPr>
            <a:r>
              <a:rPr lang="en-US" sz="1700" dirty="0">
                <a:solidFill>
                  <a:srgbClr val="0F141C"/>
                </a:solidFill>
                <a:latin typeface="Cambria" pitchFamily="34" charset="0"/>
                <a:ea typeface="Cambria" pitchFamily="34" charset="-122"/>
                <a:cs typeface="Cambria" pitchFamily="34" charset="-120"/>
              </a:rPr>
              <a:t>The person handing over and the person receiving both sign — on two different devices. One device signing twice is one person’s word.</a:t>
            </a:r>
            <a:endParaRPr lang="en-US" sz="1700" dirty="0"/>
          </a:p>
        </p:txBody>
      </p:sp>
      <p:sp>
        <p:nvSpPr>
          <p:cNvPr id="7" name="Text 5"/>
          <p:cNvSpPr/>
          <p:nvPr/>
        </p:nvSpPr>
        <p:spPr>
          <a:xfrm>
            <a:off x="502920" y="3246120"/>
            <a:ext cx="5577840" cy="731520"/>
          </a:xfrm>
          <a:prstGeom prst="rect">
            <a:avLst/>
          </a:prstGeom>
          <a:noFill/>
          <a:ln/>
        </p:spPr>
        <p:txBody>
          <a:bodyPr wrap="square" lIns="0" tIns="0" rIns="0" bIns="0" rtlCol="0" anchor="t"/>
          <a:lstStyle/>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A photograph is taken at each handover and its fingerprint recorded, so the record cannot later be attached to a different moment.</a:t>
            </a:r>
            <a:endParaRPr lang="en-US" sz="1300" dirty="0"/>
          </a:p>
        </p:txBody>
      </p:sp>
      <p:sp>
        <p:nvSpPr>
          <p:cNvPr id="8" name="Shape 6"/>
          <p:cNvSpPr/>
          <p:nvPr/>
        </p:nvSpPr>
        <p:spPr>
          <a:xfrm>
            <a:off x="502920" y="4114800"/>
            <a:ext cx="5577840" cy="1234440"/>
          </a:xfrm>
          <a:prstGeom prst="roundRect">
            <a:avLst>
              <a:gd name="adj" fmla="val 2963"/>
            </a:avLst>
          </a:prstGeom>
          <a:solidFill>
            <a:srgbClr val="F2ECFA"/>
          </a:solidFill>
          <a:ln w="9525">
            <a:solidFill>
              <a:srgbClr val="C0A8DC"/>
            </a:solidFill>
            <a:prstDash val="solid"/>
          </a:ln>
        </p:spPr>
      </p:sp>
      <p:sp>
        <p:nvSpPr>
          <p:cNvPr id="9" name="Text 7"/>
          <p:cNvSpPr/>
          <p:nvPr/>
        </p:nvSpPr>
        <p:spPr>
          <a:xfrm>
            <a:off x="704088" y="4233672"/>
            <a:ext cx="5175504" cy="182880"/>
          </a:xfrm>
          <a:prstGeom prst="rect">
            <a:avLst/>
          </a:prstGeom>
          <a:noFill/>
          <a:ln/>
        </p:spPr>
        <p:txBody>
          <a:bodyPr wrap="square" lIns="0" tIns="0" rIns="0" bIns="0" rtlCol="0" anchor="ctr"/>
          <a:lstStyle/>
          <a:p>
            <a:pPr indent="0" marL="0">
              <a:buNone/>
            </a:pPr>
            <a:r>
              <a:rPr lang="en-US" sz="800" spc="150" kern="0" dirty="0">
                <a:solidFill>
                  <a:srgbClr val="5B3490"/>
                </a:solidFill>
                <a:latin typeface="Courier New" pitchFamily="34" charset="0"/>
                <a:ea typeface="Courier New" pitchFamily="34" charset="-122"/>
                <a:cs typeface="Courier New" pitchFamily="34" charset="-120"/>
              </a:rPr>
              <a:t>THE TECHNICAL NAME</a:t>
            </a:r>
            <a:endParaRPr lang="en-US" sz="800" dirty="0"/>
          </a:p>
        </p:txBody>
      </p:sp>
      <p:sp>
        <p:nvSpPr>
          <p:cNvPr id="10" name="Text 8"/>
          <p:cNvSpPr/>
          <p:nvPr/>
        </p:nvSpPr>
        <p:spPr>
          <a:xfrm>
            <a:off x="704088" y="4425696"/>
            <a:ext cx="5175504" cy="228600"/>
          </a:xfrm>
          <a:prstGeom prst="rect">
            <a:avLst/>
          </a:prstGeom>
          <a:noFill/>
          <a:ln/>
        </p:spPr>
        <p:txBody>
          <a:bodyPr wrap="square" lIns="0" tIns="0" rIns="0" bIns="0" rtlCol="0" anchor="ctr"/>
          <a:lstStyle/>
          <a:p>
            <a:pPr indent="0" marL="0">
              <a:buNone/>
            </a:pPr>
            <a:r>
              <a:rPr lang="en-US" sz="1200" b="1" dirty="0">
                <a:solidFill>
                  <a:srgbClr val="0F141C"/>
                </a:solidFill>
                <a:latin typeface="Courier New" pitchFamily="34" charset="0"/>
                <a:ea typeface="Courier New" pitchFamily="34" charset="-122"/>
                <a:cs typeface="Courier New" pitchFamily="34" charset="-120"/>
              </a:rPr>
              <a:t>co-signature requirement</a:t>
            </a:r>
            <a:endParaRPr lang="en-US" sz="1200" dirty="0"/>
          </a:p>
        </p:txBody>
      </p:sp>
      <p:sp>
        <p:nvSpPr>
          <p:cNvPr id="11" name="Text 9"/>
          <p:cNvSpPr/>
          <p:nvPr/>
        </p:nvSpPr>
        <p:spPr>
          <a:xfrm>
            <a:off x="704088" y="4681728"/>
            <a:ext cx="5175504" cy="521208"/>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The ledger refuses a handover record that carries only one signature, or two signatures from the same device.</a:t>
            </a:r>
            <a:endParaRPr lang="en-US" sz="1100" dirty="0"/>
          </a:p>
        </p:txBody>
      </p:sp>
      <p:sp>
        <p:nvSpPr>
          <p:cNvPr id="12" name="Shape 10"/>
          <p:cNvSpPr/>
          <p:nvPr/>
        </p:nvSpPr>
        <p:spPr>
          <a:xfrm>
            <a:off x="6720840" y="2057400"/>
            <a:ext cx="4160520" cy="548640"/>
          </a:xfrm>
          <a:prstGeom prst="roundRect">
            <a:avLst>
              <a:gd name="adj" fmla="val 6667"/>
            </a:avLst>
          </a:prstGeom>
          <a:solidFill>
            <a:srgbClr val="F2F4F7"/>
          </a:solidFill>
          <a:ln w="9525">
            <a:solidFill>
              <a:srgbClr val="D2D8E0"/>
            </a:solidFill>
            <a:prstDash val="solid"/>
          </a:ln>
        </p:spPr>
      </p:sp>
      <p:sp>
        <p:nvSpPr>
          <p:cNvPr id="13" name="Text 11"/>
          <p:cNvSpPr/>
          <p:nvPr/>
        </p:nvSpPr>
        <p:spPr>
          <a:xfrm>
            <a:off x="6720840" y="2057400"/>
            <a:ext cx="4160520" cy="548640"/>
          </a:xfrm>
          <a:prstGeom prst="rect">
            <a:avLst/>
          </a:prstGeom>
          <a:noFill/>
          <a:ln/>
        </p:spPr>
        <p:txBody>
          <a:bodyPr wrap="square" lIns="0" tIns="0" rIns="0" bIns="0" rtlCol="0" anchor="ctr"/>
          <a:lstStyle/>
          <a:p>
            <a:pPr algn="ctr" indent="0" marL="0">
              <a:buNone/>
            </a:pPr>
            <a:r>
              <a:rPr lang="en-US" sz="1000" dirty="0">
                <a:solidFill>
                  <a:srgbClr val="0F141C"/>
                </a:solidFill>
                <a:latin typeface="Calibri" pitchFamily="34" charset="0"/>
                <a:ea typeface="Calibri" pitchFamily="34" charset="-122"/>
                <a:cs typeface="Calibri" pitchFamily="34" charset="-120"/>
              </a:rPr>
              <a:t>District officer  →  Courier</a:t>
            </a:r>
            <a:endParaRPr lang="en-US" sz="1000" dirty="0"/>
          </a:p>
        </p:txBody>
      </p:sp>
      <p:sp>
        <p:nvSpPr>
          <p:cNvPr id="14" name="Text 12"/>
          <p:cNvSpPr/>
          <p:nvPr/>
        </p:nvSpPr>
        <p:spPr>
          <a:xfrm>
            <a:off x="6720840" y="2606040"/>
            <a:ext cx="4160520" cy="219456"/>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6720840" y="2807208"/>
            <a:ext cx="4160520" cy="548640"/>
          </a:xfrm>
          <a:prstGeom prst="roundRect">
            <a:avLst>
              <a:gd name="adj" fmla="val 6667"/>
            </a:avLst>
          </a:prstGeom>
          <a:solidFill>
            <a:srgbClr val="F2ECFA"/>
          </a:solidFill>
          <a:ln w="9525">
            <a:solidFill>
              <a:srgbClr val="C0A8DC"/>
            </a:solidFill>
            <a:prstDash val="solid"/>
          </a:ln>
        </p:spPr>
      </p:sp>
      <p:sp>
        <p:nvSpPr>
          <p:cNvPr id="16" name="Text 14"/>
          <p:cNvSpPr/>
          <p:nvPr/>
        </p:nvSpPr>
        <p:spPr>
          <a:xfrm>
            <a:off x="6720840" y="2807208"/>
            <a:ext cx="4160520" cy="548640"/>
          </a:xfrm>
          <a:prstGeom prst="rect">
            <a:avLst/>
          </a:prstGeom>
          <a:noFill/>
          <a:ln/>
        </p:spPr>
        <p:txBody>
          <a:bodyPr wrap="square" lIns="0" tIns="0" rIns="0" bIns="0" rtlCol="0" anchor="ctr"/>
          <a:lstStyle/>
          <a:p>
            <a:pPr algn="ctr" indent="0" marL="0">
              <a:buNone/>
            </a:pPr>
            <a:r>
              <a:rPr lang="en-US" sz="1000" dirty="0">
                <a:solidFill>
                  <a:srgbClr val="5B3490"/>
                </a:solidFill>
                <a:latin typeface="Courier New" pitchFamily="34" charset="0"/>
                <a:ea typeface="Courier New" pitchFamily="34" charset="-122"/>
                <a:cs typeface="Courier New" pitchFamily="34" charset="-120"/>
              </a:rPr>
              <a:t>checkpoint scan</a:t>
            </a:r>
            <a:endParaRPr lang="en-US" sz="1000" dirty="0"/>
          </a:p>
        </p:txBody>
      </p:sp>
      <p:sp>
        <p:nvSpPr>
          <p:cNvPr id="17" name="Text 15"/>
          <p:cNvSpPr/>
          <p:nvPr/>
        </p:nvSpPr>
        <p:spPr>
          <a:xfrm>
            <a:off x="6720840" y="3355848"/>
            <a:ext cx="4160520" cy="219456"/>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18" name="Shape 16"/>
          <p:cNvSpPr/>
          <p:nvPr/>
        </p:nvSpPr>
        <p:spPr>
          <a:xfrm>
            <a:off x="6720840" y="3557016"/>
            <a:ext cx="4160520" cy="548640"/>
          </a:xfrm>
          <a:prstGeom prst="roundRect">
            <a:avLst>
              <a:gd name="adj" fmla="val 6667"/>
            </a:avLst>
          </a:prstGeom>
          <a:solidFill>
            <a:srgbClr val="F2ECFA"/>
          </a:solidFill>
          <a:ln w="9525">
            <a:solidFill>
              <a:srgbClr val="C0A8DC"/>
            </a:solidFill>
            <a:prstDash val="solid"/>
          </a:ln>
        </p:spPr>
      </p:sp>
      <p:sp>
        <p:nvSpPr>
          <p:cNvPr id="19" name="Text 17"/>
          <p:cNvSpPr/>
          <p:nvPr/>
        </p:nvSpPr>
        <p:spPr>
          <a:xfrm>
            <a:off x="6720840" y="3557016"/>
            <a:ext cx="4160520" cy="548640"/>
          </a:xfrm>
          <a:prstGeom prst="rect">
            <a:avLst/>
          </a:prstGeom>
          <a:noFill/>
          <a:ln/>
        </p:spPr>
        <p:txBody>
          <a:bodyPr wrap="square" lIns="0" tIns="0" rIns="0" bIns="0" rtlCol="0" anchor="ctr"/>
          <a:lstStyle/>
          <a:p>
            <a:pPr algn="ctr" indent="0" marL="0">
              <a:buNone/>
            </a:pPr>
            <a:r>
              <a:rPr lang="en-US" sz="1000" dirty="0">
                <a:solidFill>
                  <a:srgbClr val="5B3490"/>
                </a:solidFill>
                <a:latin typeface="Courier New" pitchFamily="34" charset="0"/>
                <a:ea typeface="Courier New" pitchFamily="34" charset="-122"/>
                <a:cs typeface="Courier New" pitchFamily="34" charset="-120"/>
              </a:rPr>
              <a:t>checkpoint scan</a:t>
            </a:r>
            <a:endParaRPr lang="en-US" sz="1000" dirty="0"/>
          </a:p>
        </p:txBody>
      </p:sp>
      <p:sp>
        <p:nvSpPr>
          <p:cNvPr id="20" name="Text 18"/>
          <p:cNvSpPr/>
          <p:nvPr/>
        </p:nvSpPr>
        <p:spPr>
          <a:xfrm>
            <a:off x="6720840" y="4105656"/>
            <a:ext cx="4160520" cy="219456"/>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21" name="Shape 19"/>
          <p:cNvSpPr/>
          <p:nvPr/>
        </p:nvSpPr>
        <p:spPr>
          <a:xfrm>
            <a:off x="6720840" y="4306824"/>
            <a:ext cx="4160520" cy="548640"/>
          </a:xfrm>
          <a:prstGeom prst="roundRect">
            <a:avLst>
              <a:gd name="adj" fmla="val 6667"/>
            </a:avLst>
          </a:prstGeom>
          <a:solidFill>
            <a:srgbClr val="F2F4F7"/>
          </a:solidFill>
          <a:ln w="9525">
            <a:solidFill>
              <a:srgbClr val="D2D8E0"/>
            </a:solidFill>
            <a:prstDash val="solid"/>
          </a:ln>
        </p:spPr>
      </p:sp>
      <p:sp>
        <p:nvSpPr>
          <p:cNvPr id="22" name="Text 20"/>
          <p:cNvSpPr/>
          <p:nvPr/>
        </p:nvSpPr>
        <p:spPr>
          <a:xfrm>
            <a:off x="6720840" y="4306824"/>
            <a:ext cx="4160520" cy="548640"/>
          </a:xfrm>
          <a:prstGeom prst="rect">
            <a:avLst/>
          </a:prstGeom>
          <a:noFill/>
          <a:ln/>
        </p:spPr>
        <p:txBody>
          <a:bodyPr wrap="square" lIns="0" tIns="0" rIns="0" bIns="0" rtlCol="0" anchor="ctr"/>
          <a:lstStyle/>
          <a:p>
            <a:pPr algn="ctr" indent="0" marL="0">
              <a:buNone/>
            </a:pPr>
            <a:r>
              <a:rPr lang="en-US" sz="1000" dirty="0">
                <a:solidFill>
                  <a:srgbClr val="0F141C"/>
                </a:solidFill>
                <a:latin typeface="Calibri" pitchFamily="34" charset="0"/>
                <a:ea typeface="Calibri" pitchFamily="34" charset="-122"/>
                <a:cs typeface="Calibri" pitchFamily="34" charset="-120"/>
              </a:rPr>
              <a:t>Courier  →  Custodian</a:t>
            </a:r>
            <a:endParaRPr lang="en-US" sz="1000" dirty="0"/>
          </a:p>
        </p:txBody>
      </p:sp>
      <p:sp>
        <p:nvSpPr>
          <p:cNvPr id="23" name="Text 21"/>
          <p:cNvSpPr/>
          <p:nvPr/>
        </p:nvSpPr>
        <p:spPr>
          <a:xfrm>
            <a:off x="6720840" y="4855464"/>
            <a:ext cx="4160520" cy="219456"/>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24" name="Shape 22"/>
          <p:cNvSpPr/>
          <p:nvPr/>
        </p:nvSpPr>
        <p:spPr>
          <a:xfrm>
            <a:off x="6720840" y="5056632"/>
            <a:ext cx="4160520" cy="548640"/>
          </a:xfrm>
          <a:prstGeom prst="roundRect">
            <a:avLst>
              <a:gd name="adj" fmla="val 6667"/>
            </a:avLst>
          </a:prstGeom>
          <a:solidFill>
            <a:srgbClr val="E8F2ED"/>
          </a:solidFill>
          <a:ln w="9525">
            <a:solidFill>
              <a:srgbClr val="24604A"/>
            </a:solidFill>
            <a:prstDash val="solid"/>
          </a:ln>
        </p:spPr>
      </p:sp>
      <p:sp>
        <p:nvSpPr>
          <p:cNvPr id="25" name="Text 23"/>
          <p:cNvSpPr/>
          <p:nvPr/>
        </p:nvSpPr>
        <p:spPr>
          <a:xfrm>
            <a:off x="6720840" y="5056632"/>
            <a:ext cx="4160520" cy="548640"/>
          </a:xfrm>
          <a:prstGeom prst="rect">
            <a:avLst/>
          </a:prstGeom>
          <a:noFill/>
          <a:ln/>
        </p:spPr>
        <p:txBody>
          <a:bodyPr wrap="square" lIns="0" tIns="0" rIns="0" bIns="0" rtlCol="0" anchor="ctr"/>
          <a:lstStyle/>
          <a:p>
            <a:pPr algn="ctr" indent="0" marL="0">
              <a:buNone/>
            </a:pPr>
            <a:r>
              <a:rPr lang="en-US" sz="1000" dirty="0">
                <a:solidFill>
                  <a:srgbClr val="24604A"/>
                </a:solidFill>
                <a:latin typeface="Calibri" pitchFamily="34" charset="0"/>
                <a:ea typeface="Calibri" pitchFamily="34" charset="-122"/>
                <a:cs typeface="Calibri" pitchFamily="34" charset="-120"/>
              </a:rPr>
              <a:t>Custodian  →  Centre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09</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AT THE CENTRE</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A small box, bolted to the wall, that never sleeps.</a:t>
            </a:r>
            <a:endParaRPr lang="en-US" sz="3000" dirty="0"/>
          </a:p>
        </p:txBody>
      </p:sp>
      <p:sp>
        <p:nvSpPr>
          <p:cNvPr id="6" name="Text 4"/>
          <p:cNvSpPr/>
          <p:nvPr/>
        </p:nvSpPr>
        <p:spPr>
          <a:xfrm>
            <a:off x="502920" y="1965960"/>
            <a:ext cx="5394960" cy="1051560"/>
          </a:xfrm>
          <a:prstGeom prst="rect">
            <a:avLst/>
          </a:prstGeom>
          <a:noFill/>
          <a:ln/>
        </p:spPr>
        <p:txBody>
          <a:bodyPr wrap="square" lIns="0" tIns="0" rIns="0" bIns="0" rtlCol="0" anchor="t"/>
          <a:lstStyle/>
          <a:p>
            <a:pPr indent="0" marL="0">
              <a:lnSpc>
                <a:spcPct val="118000"/>
              </a:lnSpc>
              <a:buNone/>
            </a:pPr>
            <a:r>
              <a:rPr lang="en-US" sz="1700" dirty="0">
                <a:solidFill>
                  <a:srgbClr val="0F141C"/>
                </a:solidFill>
                <a:latin typeface="Cambria" pitchFamily="34" charset="0"/>
                <a:ea typeface="Cambria" pitchFamily="34" charset="-122"/>
                <a:cs typeface="Cambria" pitchFamily="34" charset="-120"/>
              </a:rPr>
              <a:t>It reads fingerprints, keeps its own clock, and reports in every thirty seconds — with no internet at all.</a:t>
            </a:r>
            <a:endParaRPr lang="en-US" sz="1700" dirty="0"/>
          </a:p>
        </p:txBody>
      </p:sp>
      <p:sp>
        <p:nvSpPr>
          <p:cNvPr id="7" name="Text 5"/>
          <p:cNvSpPr/>
          <p:nvPr/>
        </p:nvSpPr>
        <p:spPr>
          <a:xfrm>
            <a:off x="502920" y="3154680"/>
            <a:ext cx="5394960" cy="777240"/>
          </a:xfrm>
          <a:prstGeom prst="rect">
            <a:avLst/>
          </a:prstGeom>
          <a:noFill/>
          <a:ln/>
        </p:spPr>
        <p:txBody>
          <a:bodyPr wrap="square" lIns="0" tIns="0" rIns="0" bIns="0" rtlCol="0" anchor="t"/>
          <a:lstStyle/>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The absence of a report is itself recorded. Unplugging the device is not a way to go dark; it is a way to raise an alarm.</a:t>
            </a:r>
            <a:endParaRPr lang="en-US" sz="1300" dirty="0"/>
          </a:p>
        </p:txBody>
      </p:sp>
      <p:sp>
        <p:nvSpPr>
          <p:cNvPr id="8" name="Shape 6"/>
          <p:cNvSpPr/>
          <p:nvPr/>
        </p:nvSpPr>
        <p:spPr>
          <a:xfrm>
            <a:off x="502920" y="4069080"/>
            <a:ext cx="5394960" cy="1371600"/>
          </a:xfrm>
          <a:prstGeom prst="roundRect">
            <a:avLst>
              <a:gd name="adj" fmla="val 2667"/>
            </a:avLst>
          </a:prstGeom>
          <a:solidFill>
            <a:srgbClr val="F2ECFA"/>
          </a:solidFill>
          <a:ln w="9525">
            <a:solidFill>
              <a:srgbClr val="C0A8DC"/>
            </a:solidFill>
            <a:prstDash val="solid"/>
          </a:ln>
        </p:spPr>
      </p:sp>
      <p:sp>
        <p:nvSpPr>
          <p:cNvPr id="9" name="Text 7"/>
          <p:cNvSpPr/>
          <p:nvPr/>
        </p:nvSpPr>
        <p:spPr>
          <a:xfrm>
            <a:off x="704088" y="4187952"/>
            <a:ext cx="4992624" cy="182880"/>
          </a:xfrm>
          <a:prstGeom prst="rect">
            <a:avLst/>
          </a:prstGeom>
          <a:noFill/>
          <a:ln/>
        </p:spPr>
        <p:txBody>
          <a:bodyPr wrap="square" lIns="0" tIns="0" rIns="0" bIns="0" rtlCol="0" anchor="ctr"/>
          <a:lstStyle/>
          <a:p>
            <a:pPr indent="0" marL="0">
              <a:buNone/>
            </a:pPr>
            <a:r>
              <a:rPr lang="en-US" sz="800" spc="150" kern="0" dirty="0">
                <a:solidFill>
                  <a:srgbClr val="5B3490"/>
                </a:solidFill>
                <a:latin typeface="Courier New" pitchFamily="34" charset="0"/>
                <a:ea typeface="Courier New" pitchFamily="34" charset="-122"/>
                <a:cs typeface="Courier New" pitchFamily="34" charset="-120"/>
              </a:rPr>
              <a:t>THE TECHNICAL NAME</a:t>
            </a:r>
            <a:endParaRPr lang="en-US" sz="800" dirty="0"/>
          </a:p>
        </p:txBody>
      </p:sp>
      <p:sp>
        <p:nvSpPr>
          <p:cNvPr id="10" name="Text 8"/>
          <p:cNvSpPr/>
          <p:nvPr/>
        </p:nvSpPr>
        <p:spPr>
          <a:xfrm>
            <a:off x="704088" y="4379976"/>
            <a:ext cx="4992624" cy="228600"/>
          </a:xfrm>
          <a:prstGeom prst="rect">
            <a:avLst/>
          </a:prstGeom>
          <a:noFill/>
          <a:ln/>
        </p:spPr>
        <p:txBody>
          <a:bodyPr wrap="square" lIns="0" tIns="0" rIns="0" bIns="0" rtlCol="0" anchor="ctr"/>
          <a:lstStyle/>
          <a:p>
            <a:pPr indent="0" marL="0">
              <a:buNone/>
            </a:pPr>
            <a:r>
              <a:rPr lang="en-US" sz="1200" b="1" dirty="0">
                <a:solidFill>
                  <a:srgbClr val="0F141C"/>
                </a:solidFill>
                <a:latin typeface="Courier New" pitchFamily="34" charset="0"/>
                <a:ea typeface="Courier New" pitchFamily="34" charset="-122"/>
                <a:cs typeface="Courier New" pitchFamily="34" charset="-120"/>
              </a:rPr>
              <a:t>heartbeat · store-and-forward</a:t>
            </a:r>
            <a:endParaRPr lang="en-US" sz="1200" dirty="0"/>
          </a:p>
        </p:txBody>
      </p:sp>
      <p:sp>
        <p:nvSpPr>
          <p:cNvPr id="11" name="Text 9"/>
          <p:cNvSpPr/>
          <p:nvPr/>
        </p:nvSpPr>
        <p:spPr>
          <a:xfrm>
            <a:off x="704088" y="4636008"/>
            <a:ext cx="4992624" cy="658368"/>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Records are written down on the device before any attempt to send them. Cutting the power delays a record; it does not erase one.</a:t>
            </a:r>
            <a:endParaRPr lang="en-US" sz="1100" dirty="0"/>
          </a:p>
        </p:txBody>
      </p:sp>
      <p:sp>
        <p:nvSpPr>
          <p:cNvPr id="12" name="Shape 10"/>
          <p:cNvSpPr/>
          <p:nvPr/>
        </p:nvSpPr>
        <p:spPr>
          <a:xfrm>
            <a:off x="6446520" y="2011680"/>
            <a:ext cx="2304288" cy="1536192"/>
          </a:xfrm>
          <a:prstGeom prst="roundRect">
            <a:avLst>
              <a:gd name="adj" fmla="val 2381"/>
            </a:avLst>
          </a:prstGeom>
          <a:solidFill>
            <a:srgbClr val="F2F4F7"/>
          </a:solidFill>
          <a:ln w="9525">
            <a:solidFill>
              <a:srgbClr val="D2D8E0"/>
            </a:solidFill>
            <a:prstDash val="solid"/>
          </a:ln>
        </p:spPr>
      </p:sp>
      <p:sp>
        <p:nvSpPr>
          <p:cNvPr id="13" name="Text 11"/>
          <p:cNvSpPr/>
          <p:nvPr/>
        </p:nvSpPr>
        <p:spPr>
          <a:xfrm>
            <a:off x="6629400" y="2148840"/>
            <a:ext cx="1938528"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Fingerprint reader</a:t>
            </a:r>
            <a:endParaRPr lang="en-US" sz="1300" dirty="0"/>
          </a:p>
        </p:txBody>
      </p:sp>
      <p:sp>
        <p:nvSpPr>
          <p:cNvPr id="14" name="Text 12"/>
          <p:cNvSpPr/>
          <p:nvPr/>
        </p:nvSpPr>
        <p:spPr>
          <a:xfrm>
            <a:off x="6629400" y="2432304"/>
            <a:ext cx="1938528" cy="969264"/>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Matches on its own chip and reports only a slot number and a confidence score.</a:t>
            </a:r>
            <a:endParaRPr lang="en-US" sz="1100" dirty="0"/>
          </a:p>
        </p:txBody>
      </p:sp>
      <p:sp>
        <p:nvSpPr>
          <p:cNvPr id="15" name="Shape 13"/>
          <p:cNvSpPr/>
          <p:nvPr/>
        </p:nvSpPr>
        <p:spPr>
          <a:xfrm>
            <a:off x="8933688" y="2011680"/>
            <a:ext cx="2304288" cy="1536192"/>
          </a:xfrm>
          <a:prstGeom prst="roundRect">
            <a:avLst>
              <a:gd name="adj" fmla="val 2381"/>
            </a:avLst>
          </a:prstGeom>
          <a:solidFill>
            <a:srgbClr val="F2F4F7"/>
          </a:solidFill>
          <a:ln w="9525">
            <a:solidFill>
              <a:srgbClr val="D2D8E0"/>
            </a:solidFill>
            <a:prstDash val="solid"/>
          </a:ln>
        </p:spPr>
      </p:sp>
      <p:sp>
        <p:nvSpPr>
          <p:cNvPr id="16" name="Text 14"/>
          <p:cNvSpPr/>
          <p:nvPr/>
        </p:nvSpPr>
        <p:spPr>
          <a:xfrm>
            <a:off x="9116568" y="2148840"/>
            <a:ext cx="1938528"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Battery-backed clock</a:t>
            </a:r>
            <a:endParaRPr lang="en-US" sz="1300" dirty="0"/>
          </a:p>
        </p:txBody>
      </p:sp>
      <p:sp>
        <p:nvSpPr>
          <p:cNvPr id="17" name="Text 15"/>
          <p:cNvSpPr/>
          <p:nvPr/>
        </p:nvSpPr>
        <p:spPr>
          <a:xfrm>
            <a:off x="9116568" y="2432304"/>
            <a:ext cx="1938528" cy="969264"/>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Correct timestamps with no power and no network.</a:t>
            </a:r>
            <a:endParaRPr lang="en-US" sz="1100" dirty="0"/>
          </a:p>
        </p:txBody>
      </p:sp>
      <p:sp>
        <p:nvSpPr>
          <p:cNvPr id="18" name="Shape 16"/>
          <p:cNvSpPr/>
          <p:nvPr/>
        </p:nvSpPr>
        <p:spPr>
          <a:xfrm>
            <a:off x="6446520" y="3703320"/>
            <a:ext cx="2304288" cy="1536192"/>
          </a:xfrm>
          <a:prstGeom prst="roundRect">
            <a:avLst>
              <a:gd name="adj" fmla="val 2381"/>
            </a:avLst>
          </a:prstGeom>
          <a:solidFill>
            <a:srgbClr val="F2F4F7"/>
          </a:solidFill>
          <a:ln w="9525">
            <a:solidFill>
              <a:srgbClr val="D2D8E0"/>
            </a:solidFill>
            <a:prstDash val="solid"/>
          </a:ln>
        </p:spPr>
      </p:sp>
      <p:sp>
        <p:nvSpPr>
          <p:cNvPr id="19" name="Text 17"/>
          <p:cNvSpPr/>
          <p:nvPr/>
        </p:nvSpPr>
        <p:spPr>
          <a:xfrm>
            <a:off x="6629400" y="3840480"/>
            <a:ext cx="1938528"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Its own secret key</a:t>
            </a:r>
            <a:endParaRPr lang="en-US" sz="1300" dirty="0"/>
          </a:p>
        </p:txBody>
      </p:sp>
      <p:sp>
        <p:nvSpPr>
          <p:cNvPr id="20" name="Text 18"/>
          <p:cNvSpPr/>
          <p:nvPr/>
        </p:nvSpPr>
        <p:spPr>
          <a:xfrm>
            <a:off x="6629400" y="4123944"/>
            <a:ext cx="1938528" cy="969264"/>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Signs every record. The key never leaves the chip.</a:t>
            </a:r>
            <a:endParaRPr lang="en-US" sz="1100" dirty="0"/>
          </a:p>
        </p:txBody>
      </p:sp>
      <p:sp>
        <p:nvSpPr>
          <p:cNvPr id="21" name="Shape 19"/>
          <p:cNvSpPr/>
          <p:nvPr/>
        </p:nvSpPr>
        <p:spPr>
          <a:xfrm>
            <a:off x="8933688" y="3703320"/>
            <a:ext cx="2304288" cy="1536192"/>
          </a:xfrm>
          <a:prstGeom prst="roundRect">
            <a:avLst>
              <a:gd name="adj" fmla="val 2381"/>
            </a:avLst>
          </a:prstGeom>
          <a:solidFill>
            <a:srgbClr val="F2F4F7"/>
          </a:solidFill>
          <a:ln w="9525">
            <a:solidFill>
              <a:srgbClr val="D2D8E0"/>
            </a:solidFill>
            <a:prstDash val="solid"/>
          </a:ln>
        </p:spPr>
      </p:sp>
      <p:sp>
        <p:nvSpPr>
          <p:cNvPr id="22" name="Text 20"/>
          <p:cNvSpPr/>
          <p:nvPr/>
        </p:nvSpPr>
        <p:spPr>
          <a:xfrm>
            <a:off x="9116568" y="3840480"/>
            <a:ext cx="1938528"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Buzzer</a:t>
            </a:r>
            <a:endParaRPr lang="en-US" sz="1300" dirty="0"/>
          </a:p>
        </p:txBody>
      </p:sp>
      <p:sp>
        <p:nvSpPr>
          <p:cNvPr id="23" name="Text 21"/>
          <p:cNvSpPr/>
          <p:nvPr/>
        </p:nvSpPr>
        <p:spPr>
          <a:xfrm>
            <a:off x="9116568" y="4123944"/>
            <a:ext cx="1938528" cy="969264"/>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Sounds when access is refused, so a refusal is never silent.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10</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AT THE CENTRE</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We never store anyone’s fingerprint.</a:t>
            </a:r>
            <a:endParaRPr lang="en-US" sz="3000" dirty="0"/>
          </a:p>
        </p:txBody>
      </p:sp>
      <p:sp>
        <p:nvSpPr>
          <p:cNvPr id="6" name="Text 4"/>
          <p:cNvSpPr/>
          <p:nvPr/>
        </p:nvSpPr>
        <p:spPr>
          <a:xfrm>
            <a:off x="502920" y="1965960"/>
            <a:ext cx="5577840" cy="1234440"/>
          </a:xfrm>
          <a:prstGeom prst="rect">
            <a:avLst/>
          </a:prstGeom>
          <a:noFill/>
          <a:ln/>
        </p:spPr>
        <p:txBody>
          <a:bodyPr wrap="square" lIns="0" tIns="0" rIns="0" bIns="0" rtlCol="0" anchor="t"/>
          <a:lstStyle/>
          <a:p>
            <a:pPr indent="0" marL="0">
              <a:lnSpc>
                <a:spcPct val="118000"/>
              </a:lnSpc>
              <a:buNone/>
            </a:pPr>
            <a:r>
              <a:rPr lang="en-US" sz="1700" dirty="0">
                <a:solidFill>
                  <a:srgbClr val="0F141C"/>
                </a:solidFill>
                <a:latin typeface="Cambria" pitchFamily="34" charset="0"/>
                <a:ea typeface="Cambria" pitchFamily="34" charset="-122"/>
                <a:cs typeface="Cambria" pitchFamily="34" charset="-120"/>
              </a:rPr>
              <a:t>The reader compares the finger inside its own chip and tells us only “slot 3 matched, score 187”. No image and no template ever leaves it.</a:t>
            </a:r>
            <a:endParaRPr lang="en-US" sz="1700" dirty="0"/>
          </a:p>
        </p:txBody>
      </p:sp>
      <p:sp>
        <p:nvSpPr>
          <p:cNvPr id="7" name="Text 5"/>
          <p:cNvSpPr/>
          <p:nvPr/>
        </p:nvSpPr>
        <p:spPr>
          <a:xfrm>
            <a:off x="502920" y="3337560"/>
            <a:ext cx="5577840" cy="640080"/>
          </a:xfrm>
          <a:prstGeom prst="rect">
            <a:avLst/>
          </a:prstGeom>
          <a:noFill/>
          <a:ln/>
        </p:spPr>
        <p:txBody>
          <a:bodyPr wrap="square" lIns="0" tIns="0" rIns="0" bIns="0" rtlCol="0" anchor="t"/>
          <a:lstStyle/>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So a breach of our database cannot leak a fingerprint — because there is no fingerprint in it to leak.</a:t>
            </a:r>
            <a:endParaRPr lang="en-US" sz="1300" dirty="0"/>
          </a:p>
        </p:txBody>
      </p:sp>
      <p:sp>
        <p:nvSpPr>
          <p:cNvPr id="8" name="Shape 6"/>
          <p:cNvSpPr/>
          <p:nvPr/>
        </p:nvSpPr>
        <p:spPr>
          <a:xfrm>
            <a:off x="502920" y="4114800"/>
            <a:ext cx="5577840" cy="1325880"/>
          </a:xfrm>
          <a:prstGeom prst="roundRect">
            <a:avLst>
              <a:gd name="adj" fmla="val 2759"/>
            </a:avLst>
          </a:prstGeom>
          <a:solidFill>
            <a:srgbClr val="F2ECFA"/>
          </a:solidFill>
          <a:ln w="9525">
            <a:solidFill>
              <a:srgbClr val="C0A8DC"/>
            </a:solidFill>
            <a:prstDash val="solid"/>
          </a:ln>
        </p:spPr>
      </p:sp>
      <p:sp>
        <p:nvSpPr>
          <p:cNvPr id="9" name="Text 7"/>
          <p:cNvSpPr/>
          <p:nvPr/>
        </p:nvSpPr>
        <p:spPr>
          <a:xfrm>
            <a:off x="704088" y="4233672"/>
            <a:ext cx="5175504" cy="182880"/>
          </a:xfrm>
          <a:prstGeom prst="rect">
            <a:avLst/>
          </a:prstGeom>
          <a:noFill/>
          <a:ln/>
        </p:spPr>
        <p:txBody>
          <a:bodyPr wrap="square" lIns="0" tIns="0" rIns="0" bIns="0" rtlCol="0" anchor="ctr"/>
          <a:lstStyle/>
          <a:p>
            <a:pPr indent="0" marL="0">
              <a:buNone/>
            </a:pPr>
            <a:r>
              <a:rPr lang="en-US" sz="800" spc="150" kern="0" dirty="0">
                <a:solidFill>
                  <a:srgbClr val="5B3490"/>
                </a:solidFill>
                <a:latin typeface="Courier New" pitchFamily="34" charset="0"/>
                <a:ea typeface="Courier New" pitchFamily="34" charset="-122"/>
                <a:cs typeface="Courier New" pitchFamily="34" charset="-120"/>
              </a:rPr>
              <a:t>THE TECHNICAL NAME</a:t>
            </a:r>
            <a:endParaRPr lang="en-US" sz="800" dirty="0"/>
          </a:p>
        </p:txBody>
      </p:sp>
      <p:sp>
        <p:nvSpPr>
          <p:cNvPr id="10" name="Text 8"/>
          <p:cNvSpPr/>
          <p:nvPr/>
        </p:nvSpPr>
        <p:spPr>
          <a:xfrm>
            <a:off x="704088" y="4425696"/>
            <a:ext cx="5175504" cy="228600"/>
          </a:xfrm>
          <a:prstGeom prst="rect">
            <a:avLst/>
          </a:prstGeom>
          <a:noFill/>
          <a:ln/>
        </p:spPr>
        <p:txBody>
          <a:bodyPr wrap="square" lIns="0" tIns="0" rIns="0" bIns="0" rtlCol="0" anchor="ctr"/>
          <a:lstStyle/>
          <a:p>
            <a:pPr indent="0" marL="0">
              <a:buNone/>
            </a:pPr>
            <a:r>
              <a:rPr lang="en-US" sz="1200" b="1" dirty="0">
                <a:solidFill>
                  <a:srgbClr val="0F141C"/>
                </a:solidFill>
                <a:latin typeface="Courier New" pitchFamily="34" charset="0"/>
                <a:ea typeface="Courier New" pitchFamily="34" charset="-122"/>
                <a:cs typeface="Courier New" pitchFamily="34" charset="-120"/>
              </a:rPr>
              <a:t>on-module matching · data minimisation</a:t>
            </a:r>
            <a:endParaRPr lang="en-US" sz="1200" dirty="0"/>
          </a:p>
        </p:txBody>
      </p:sp>
      <p:sp>
        <p:nvSpPr>
          <p:cNvPr id="11" name="Text 9"/>
          <p:cNvSpPr/>
          <p:nvPr/>
        </p:nvSpPr>
        <p:spPr>
          <a:xfrm>
            <a:off x="704088" y="4681728"/>
            <a:ext cx="5175504" cy="612648"/>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Under India’s DPDP Act 2023 biometric data is personal data. The cleanest position to be in is not to hold it at all.</a:t>
            </a:r>
            <a:endParaRPr lang="en-US" sz="1100" dirty="0"/>
          </a:p>
        </p:txBody>
      </p:sp>
      <p:sp>
        <p:nvSpPr>
          <p:cNvPr id="12" name="Shape 10"/>
          <p:cNvSpPr/>
          <p:nvPr/>
        </p:nvSpPr>
        <p:spPr>
          <a:xfrm>
            <a:off x="6720840" y="2103120"/>
            <a:ext cx="4160520" cy="502920"/>
          </a:xfrm>
          <a:prstGeom prst="roundRect">
            <a:avLst>
              <a:gd name="adj" fmla="val 7273"/>
            </a:avLst>
          </a:prstGeom>
          <a:solidFill>
            <a:srgbClr val="F2F4F7"/>
          </a:solidFill>
          <a:ln w="9525">
            <a:solidFill>
              <a:srgbClr val="D2D8E0"/>
            </a:solidFill>
            <a:prstDash val="solid"/>
          </a:ln>
        </p:spPr>
      </p:sp>
      <p:sp>
        <p:nvSpPr>
          <p:cNvPr id="13" name="Text 11"/>
          <p:cNvSpPr/>
          <p:nvPr/>
        </p:nvSpPr>
        <p:spPr>
          <a:xfrm>
            <a:off x="6720840" y="2103120"/>
            <a:ext cx="4160520" cy="502920"/>
          </a:xfrm>
          <a:prstGeom prst="rect">
            <a:avLst/>
          </a:prstGeom>
          <a:noFill/>
          <a:ln/>
        </p:spPr>
        <p:txBody>
          <a:bodyPr wrap="square" lIns="0" tIns="0" rIns="0" bIns="0" rtlCol="0" anchor="ctr"/>
          <a:lstStyle/>
          <a:p>
            <a:pPr algn="ctr" indent="0" marL="0">
              <a:buNone/>
            </a:pPr>
            <a:r>
              <a:rPr lang="en-US" sz="1000" dirty="0">
                <a:solidFill>
                  <a:srgbClr val="0F141C"/>
                </a:solidFill>
                <a:latin typeface="Courier New" pitchFamily="34" charset="0"/>
                <a:ea typeface="Courier New" pitchFamily="34" charset="-122"/>
                <a:cs typeface="Courier New" pitchFamily="34" charset="-120"/>
              </a:rPr>
              <a:t>Finger</a:t>
            </a:r>
            <a:endParaRPr lang="en-US" sz="1000" dirty="0"/>
          </a:p>
        </p:txBody>
      </p:sp>
      <p:sp>
        <p:nvSpPr>
          <p:cNvPr id="14" name="Text 12"/>
          <p:cNvSpPr/>
          <p:nvPr/>
        </p:nvSpPr>
        <p:spPr>
          <a:xfrm>
            <a:off x="6720840" y="2633472"/>
            <a:ext cx="4160520" cy="320040"/>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6720840" y="2971800"/>
            <a:ext cx="4160520" cy="502920"/>
          </a:xfrm>
          <a:prstGeom prst="roundRect">
            <a:avLst>
              <a:gd name="adj" fmla="val 7273"/>
            </a:avLst>
          </a:prstGeom>
          <a:solidFill>
            <a:srgbClr val="F2ECFA"/>
          </a:solidFill>
          <a:ln w="9525">
            <a:solidFill>
              <a:srgbClr val="C0A8DC"/>
            </a:solidFill>
            <a:prstDash val="solid"/>
          </a:ln>
        </p:spPr>
      </p:sp>
      <p:sp>
        <p:nvSpPr>
          <p:cNvPr id="16" name="Text 14"/>
          <p:cNvSpPr/>
          <p:nvPr/>
        </p:nvSpPr>
        <p:spPr>
          <a:xfrm>
            <a:off x="6720840" y="2971800"/>
            <a:ext cx="4160520" cy="502920"/>
          </a:xfrm>
          <a:prstGeom prst="rect">
            <a:avLst/>
          </a:prstGeom>
          <a:noFill/>
          <a:ln/>
        </p:spPr>
        <p:txBody>
          <a:bodyPr wrap="square" lIns="0" tIns="0" rIns="0" bIns="0" rtlCol="0" anchor="ctr"/>
          <a:lstStyle/>
          <a:p>
            <a:pPr algn="ctr" indent="0" marL="0">
              <a:buNone/>
            </a:pPr>
            <a:r>
              <a:rPr lang="en-US" sz="1000" dirty="0">
                <a:solidFill>
                  <a:srgbClr val="5B3490"/>
                </a:solidFill>
                <a:latin typeface="Courier New" pitchFamily="34" charset="0"/>
                <a:ea typeface="Courier New" pitchFamily="34" charset="-122"/>
                <a:cs typeface="Courier New" pitchFamily="34" charset="-120"/>
              </a:rPr>
              <a:t>matched inside the reader</a:t>
            </a:r>
            <a:endParaRPr lang="en-US" sz="1000" dirty="0"/>
          </a:p>
        </p:txBody>
      </p:sp>
      <p:sp>
        <p:nvSpPr>
          <p:cNvPr id="17" name="Text 15"/>
          <p:cNvSpPr/>
          <p:nvPr/>
        </p:nvSpPr>
        <p:spPr>
          <a:xfrm>
            <a:off x="6720840" y="3502152"/>
            <a:ext cx="4160520" cy="320040"/>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18" name="Shape 16"/>
          <p:cNvSpPr/>
          <p:nvPr/>
        </p:nvSpPr>
        <p:spPr>
          <a:xfrm>
            <a:off x="6720840" y="3840480"/>
            <a:ext cx="4160520" cy="502920"/>
          </a:xfrm>
          <a:prstGeom prst="roundRect">
            <a:avLst>
              <a:gd name="adj" fmla="val 7273"/>
            </a:avLst>
          </a:prstGeom>
          <a:solidFill>
            <a:srgbClr val="E8F2ED"/>
          </a:solidFill>
          <a:ln w="9525">
            <a:solidFill>
              <a:srgbClr val="24604A"/>
            </a:solidFill>
            <a:prstDash val="solid"/>
          </a:ln>
        </p:spPr>
      </p:sp>
      <p:sp>
        <p:nvSpPr>
          <p:cNvPr id="19" name="Text 17"/>
          <p:cNvSpPr/>
          <p:nvPr/>
        </p:nvSpPr>
        <p:spPr>
          <a:xfrm>
            <a:off x="6720840" y="3840480"/>
            <a:ext cx="4160520" cy="502920"/>
          </a:xfrm>
          <a:prstGeom prst="rect">
            <a:avLst/>
          </a:prstGeom>
          <a:noFill/>
          <a:ln/>
        </p:spPr>
        <p:txBody>
          <a:bodyPr wrap="square" lIns="0" tIns="0" rIns="0" bIns="0" rtlCol="0" anchor="ctr"/>
          <a:lstStyle/>
          <a:p>
            <a:pPr algn="ctr" indent="0" marL="0">
              <a:buNone/>
            </a:pPr>
            <a:r>
              <a:rPr lang="en-US" sz="1000" b="1" dirty="0">
                <a:solidFill>
                  <a:srgbClr val="24604A"/>
                </a:solidFill>
                <a:latin typeface="Courier New" pitchFamily="34" charset="0"/>
                <a:ea typeface="Courier New" pitchFamily="34" charset="-122"/>
                <a:cs typeface="Courier New" pitchFamily="34" charset="-120"/>
              </a:rPr>
              <a:t>“slot 3, score 187”</a:t>
            </a:r>
            <a:endParaRPr lang="en-US" sz="1000" dirty="0"/>
          </a:p>
        </p:txBody>
      </p:sp>
      <p:sp>
        <p:nvSpPr>
          <p:cNvPr id="20" name="Text 18"/>
          <p:cNvSpPr/>
          <p:nvPr/>
        </p:nvSpPr>
        <p:spPr>
          <a:xfrm>
            <a:off x="6720840" y="4370832"/>
            <a:ext cx="4160520" cy="320040"/>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21" name="Shape 19"/>
          <p:cNvSpPr/>
          <p:nvPr/>
        </p:nvSpPr>
        <p:spPr>
          <a:xfrm>
            <a:off x="6720840" y="4709160"/>
            <a:ext cx="4160520" cy="502920"/>
          </a:xfrm>
          <a:prstGeom prst="roundRect">
            <a:avLst>
              <a:gd name="adj" fmla="val 7273"/>
            </a:avLst>
          </a:prstGeom>
          <a:solidFill>
            <a:srgbClr val="F2F4F7"/>
          </a:solidFill>
          <a:ln w="9525">
            <a:solidFill>
              <a:srgbClr val="D2D8E0"/>
            </a:solidFill>
            <a:prstDash val="solid"/>
          </a:ln>
        </p:spPr>
      </p:sp>
      <p:sp>
        <p:nvSpPr>
          <p:cNvPr id="22" name="Text 20"/>
          <p:cNvSpPr/>
          <p:nvPr/>
        </p:nvSpPr>
        <p:spPr>
          <a:xfrm>
            <a:off x="6720840" y="4709160"/>
            <a:ext cx="4160520" cy="502920"/>
          </a:xfrm>
          <a:prstGeom prst="rect">
            <a:avLst/>
          </a:prstGeom>
          <a:noFill/>
          <a:ln/>
        </p:spPr>
        <p:txBody>
          <a:bodyPr wrap="square" lIns="0" tIns="0" rIns="0" bIns="0" rtlCol="0" anchor="ctr"/>
          <a:lstStyle/>
          <a:p>
            <a:pPr algn="ctr" indent="0" marL="0">
              <a:buNone/>
            </a:pPr>
            <a:r>
              <a:rPr lang="en-US" sz="900" dirty="0">
                <a:solidFill>
                  <a:srgbClr val="0F141C"/>
                </a:solidFill>
                <a:latin typeface="Calibri" pitchFamily="34" charset="0"/>
                <a:ea typeface="Calibri" pitchFamily="34" charset="-122"/>
                <a:cs typeface="Calibri" pitchFamily="34" charset="-120"/>
              </a:rPr>
              <a:t>who slot 3 is → a separate register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11</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THE UNLOCK</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Two officials. Two minutes. Two different fingers.</a:t>
            </a:r>
            <a:endParaRPr lang="en-US" sz="3000" dirty="0"/>
          </a:p>
        </p:txBody>
      </p:sp>
      <p:sp>
        <p:nvSpPr>
          <p:cNvPr id="6" name="Text 4"/>
          <p:cNvSpPr/>
          <p:nvPr/>
        </p:nvSpPr>
        <p:spPr>
          <a:xfrm>
            <a:off x="502920" y="1965960"/>
            <a:ext cx="5577840" cy="1097280"/>
          </a:xfrm>
          <a:prstGeom prst="rect">
            <a:avLst/>
          </a:prstGeom>
          <a:noFill/>
          <a:ln/>
        </p:spPr>
        <p:txBody>
          <a:bodyPr wrap="square" lIns="0" tIns="0" rIns="0" bIns="0" rtlCol="0" anchor="t"/>
          <a:lstStyle/>
          <a:p>
            <a:pPr indent="0" marL="0">
              <a:lnSpc>
                <a:spcPct val="118000"/>
              </a:lnSpc>
              <a:buNone/>
            </a:pPr>
            <a:r>
              <a:rPr lang="en-US" sz="1700" dirty="0">
                <a:solidFill>
                  <a:srgbClr val="0F141C"/>
                </a:solidFill>
                <a:latin typeface="Cambria" pitchFamily="34" charset="0"/>
                <a:ea typeface="Cambria" pitchFamily="34" charset="-122"/>
                <a:cs typeface="Cambria" pitchFamily="34" charset="-120"/>
              </a:rPr>
              <a:t>The first official touches the reader. The second has two minutes to follow — and must be a different person.</a:t>
            </a:r>
            <a:endParaRPr lang="en-US" sz="1700" dirty="0"/>
          </a:p>
        </p:txBody>
      </p:sp>
      <p:sp>
        <p:nvSpPr>
          <p:cNvPr id="7" name="Text 5"/>
          <p:cNvSpPr/>
          <p:nvPr/>
        </p:nvSpPr>
        <p:spPr>
          <a:xfrm>
            <a:off x="502920" y="3200400"/>
            <a:ext cx="5577840" cy="777240"/>
          </a:xfrm>
          <a:prstGeom prst="rect">
            <a:avLst/>
          </a:prstGeom>
          <a:noFill/>
          <a:ln/>
        </p:spPr>
        <p:txBody>
          <a:bodyPr wrap="square" lIns="0" tIns="0" rIns="0" bIns="0" rtlCol="0" anchor="t"/>
          <a:lstStyle/>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One person tapping twice is refused. Nobody arriving is refused. Both outcomes are kept on the record, because a refusal is evidence too.</a:t>
            </a:r>
            <a:endParaRPr lang="en-US" sz="1300" dirty="0"/>
          </a:p>
        </p:txBody>
      </p:sp>
      <p:sp>
        <p:nvSpPr>
          <p:cNvPr id="8" name="Shape 6"/>
          <p:cNvSpPr/>
          <p:nvPr/>
        </p:nvSpPr>
        <p:spPr>
          <a:xfrm>
            <a:off x="502920" y="4114800"/>
            <a:ext cx="5577840" cy="1371600"/>
          </a:xfrm>
          <a:prstGeom prst="roundRect">
            <a:avLst>
              <a:gd name="adj" fmla="val 2667"/>
            </a:avLst>
          </a:prstGeom>
          <a:solidFill>
            <a:srgbClr val="F2ECFA"/>
          </a:solidFill>
          <a:ln w="9525">
            <a:solidFill>
              <a:srgbClr val="C0A8DC"/>
            </a:solidFill>
            <a:prstDash val="solid"/>
          </a:ln>
        </p:spPr>
      </p:sp>
      <p:sp>
        <p:nvSpPr>
          <p:cNvPr id="9" name="Text 7"/>
          <p:cNvSpPr/>
          <p:nvPr/>
        </p:nvSpPr>
        <p:spPr>
          <a:xfrm>
            <a:off x="704088" y="4233672"/>
            <a:ext cx="5175504" cy="182880"/>
          </a:xfrm>
          <a:prstGeom prst="rect">
            <a:avLst/>
          </a:prstGeom>
          <a:noFill/>
          <a:ln/>
        </p:spPr>
        <p:txBody>
          <a:bodyPr wrap="square" lIns="0" tIns="0" rIns="0" bIns="0" rtlCol="0" anchor="ctr"/>
          <a:lstStyle/>
          <a:p>
            <a:pPr indent="0" marL="0">
              <a:buNone/>
            </a:pPr>
            <a:r>
              <a:rPr lang="en-US" sz="800" spc="150" kern="0" dirty="0">
                <a:solidFill>
                  <a:srgbClr val="5B3490"/>
                </a:solidFill>
                <a:latin typeface="Courier New" pitchFamily="34" charset="0"/>
                <a:ea typeface="Courier New" pitchFamily="34" charset="-122"/>
                <a:cs typeface="Courier New" pitchFamily="34" charset="-120"/>
              </a:rPr>
              <a:t>THE TECHNICAL NAME</a:t>
            </a:r>
            <a:endParaRPr lang="en-US" sz="800" dirty="0"/>
          </a:p>
        </p:txBody>
      </p:sp>
      <p:sp>
        <p:nvSpPr>
          <p:cNvPr id="10" name="Text 8"/>
          <p:cNvSpPr/>
          <p:nvPr/>
        </p:nvSpPr>
        <p:spPr>
          <a:xfrm>
            <a:off x="704088" y="4425696"/>
            <a:ext cx="5175504" cy="228600"/>
          </a:xfrm>
          <a:prstGeom prst="rect">
            <a:avLst/>
          </a:prstGeom>
          <a:noFill/>
          <a:ln/>
        </p:spPr>
        <p:txBody>
          <a:bodyPr wrap="square" lIns="0" tIns="0" rIns="0" bIns="0" rtlCol="0" anchor="ctr"/>
          <a:lstStyle/>
          <a:p>
            <a:pPr indent="0" marL="0">
              <a:buNone/>
            </a:pPr>
            <a:r>
              <a:rPr lang="en-US" sz="1200" b="1" dirty="0">
                <a:solidFill>
                  <a:srgbClr val="0F141C"/>
                </a:solidFill>
                <a:latin typeface="Courier New" pitchFamily="34" charset="0"/>
                <a:ea typeface="Courier New" pitchFamily="34" charset="-122"/>
                <a:cs typeface="Courier New" pitchFamily="34" charset="-120"/>
              </a:rPr>
              <a:t>two-person co-presence window</a:t>
            </a:r>
            <a:endParaRPr lang="en-US" sz="1200" dirty="0"/>
          </a:p>
        </p:txBody>
      </p:sp>
      <p:sp>
        <p:nvSpPr>
          <p:cNvPr id="11" name="Text 9"/>
          <p:cNvSpPr/>
          <p:nvPr/>
        </p:nvSpPr>
        <p:spPr>
          <a:xfrm>
            <a:off x="704088" y="4681728"/>
            <a:ext cx="5175504" cy="658368"/>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The rule checks two distinct enrolled fingers inside 120 seconds. A photograph is taken at each match and its fingerprint recorded to the chain.</a:t>
            </a:r>
            <a:endParaRPr lang="en-US" sz="1100" dirty="0"/>
          </a:p>
        </p:txBody>
      </p:sp>
      <p:sp>
        <p:nvSpPr>
          <p:cNvPr id="12" name="Shape 10"/>
          <p:cNvSpPr/>
          <p:nvPr/>
        </p:nvSpPr>
        <p:spPr>
          <a:xfrm>
            <a:off x="6720840" y="2194560"/>
            <a:ext cx="4160520" cy="566928"/>
          </a:xfrm>
          <a:prstGeom prst="roundRect">
            <a:avLst>
              <a:gd name="adj" fmla="val 6452"/>
            </a:avLst>
          </a:prstGeom>
          <a:solidFill>
            <a:srgbClr val="E8F2ED"/>
          </a:solidFill>
          <a:ln w="9525">
            <a:solidFill>
              <a:srgbClr val="24604A"/>
            </a:solidFill>
            <a:prstDash val="solid"/>
          </a:ln>
        </p:spPr>
      </p:sp>
      <p:sp>
        <p:nvSpPr>
          <p:cNvPr id="13" name="Text 11"/>
          <p:cNvSpPr/>
          <p:nvPr/>
        </p:nvSpPr>
        <p:spPr>
          <a:xfrm>
            <a:off x="6720840" y="2194560"/>
            <a:ext cx="4160520" cy="566928"/>
          </a:xfrm>
          <a:prstGeom prst="rect">
            <a:avLst/>
          </a:prstGeom>
          <a:noFill/>
          <a:ln/>
        </p:spPr>
        <p:txBody>
          <a:bodyPr wrap="square" lIns="0" tIns="0" rIns="0" bIns="0" rtlCol="0" anchor="ctr"/>
          <a:lstStyle/>
          <a:p>
            <a:pPr algn="ctr" indent="0" marL="0">
              <a:buNone/>
            </a:pPr>
            <a:r>
              <a:rPr lang="en-US" sz="1100" b="1" dirty="0">
                <a:solidFill>
                  <a:srgbClr val="24604A"/>
                </a:solidFill>
                <a:latin typeface="Courier New" pitchFamily="34" charset="0"/>
                <a:ea typeface="Courier New" pitchFamily="34" charset="-122"/>
                <a:cs typeface="Courier New" pitchFamily="34" charset="-120"/>
              </a:rPr>
              <a:t>two_person_confirmed</a:t>
            </a:r>
            <a:endParaRPr lang="en-US" sz="1100" dirty="0"/>
          </a:p>
        </p:txBody>
      </p:sp>
      <p:sp>
        <p:nvSpPr>
          <p:cNvPr id="14" name="Shape 12"/>
          <p:cNvSpPr/>
          <p:nvPr/>
        </p:nvSpPr>
        <p:spPr>
          <a:xfrm>
            <a:off x="6720840" y="2971800"/>
            <a:ext cx="4160520" cy="566928"/>
          </a:xfrm>
          <a:prstGeom prst="roundRect">
            <a:avLst>
              <a:gd name="adj" fmla="val 6452"/>
            </a:avLst>
          </a:prstGeom>
          <a:solidFill>
            <a:srgbClr val="FAEDEB"/>
          </a:solidFill>
          <a:ln w="9525">
            <a:solidFill>
              <a:srgbClr val="9E2B24"/>
            </a:solidFill>
            <a:prstDash val="solid"/>
          </a:ln>
        </p:spPr>
      </p:sp>
      <p:sp>
        <p:nvSpPr>
          <p:cNvPr id="15" name="Text 13"/>
          <p:cNvSpPr/>
          <p:nvPr/>
        </p:nvSpPr>
        <p:spPr>
          <a:xfrm>
            <a:off x="6720840" y="2971800"/>
            <a:ext cx="4160520" cy="566928"/>
          </a:xfrm>
          <a:prstGeom prst="rect">
            <a:avLst/>
          </a:prstGeom>
          <a:noFill/>
          <a:ln/>
        </p:spPr>
        <p:txBody>
          <a:bodyPr wrap="square" lIns="0" tIns="0" rIns="0" bIns="0" rtlCol="0" anchor="ctr"/>
          <a:lstStyle/>
          <a:p>
            <a:pPr algn="ctr" indent="0" marL="0">
              <a:buNone/>
            </a:pPr>
            <a:r>
              <a:rPr lang="en-US" sz="1100" b="1" dirty="0">
                <a:solidFill>
                  <a:srgbClr val="9E2B24"/>
                </a:solidFill>
                <a:latin typeface="Courier New" pitchFamily="34" charset="0"/>
                <a:ea typeface="Courier New" pitchFamily="34" charset="-122"/>
                <a:cs typeface="Courier New" pitchFamily="34" charset="-120"/>
              </a:rPr>
              <a:t>same_finger_twice</a:t>
            </a:r>
            <a:endParaRPr lang="en-US" sz="1100" dirty="0"/>
          </a:p>
        </p:txBody>
      </p:sp>
      <p:sp>
        <p:nvSpPr>
          <p:cNvPr id="16" name="Shape 14"/>
          <p:cNvSpPr/>
          <p:nvPr/>
        </p:nvSpPr>
        <p:spPr>
          <a:xfrm>
            <a:off x="6720840" y="3749040"/>
            <a:ext cx="4160520" cy="566928"/>
          </a:xfrm>
          <a:prstGeom prst="roundRect">
            <a:avLst>
              <a:gd name="adj" fmla="val 6452"/>
            </a:avLst>
          </a:prstGeom>
          <a:solidFill>
            <a:srgbClr val="FAEDEB"/>
          </a:solidFill>
          <a:ln w="9525">
            <a:solidFill>
              <a:srgbClr val="9E2B24"/>
            </a:solidFill>
            <a:prstDash val="solid"/>
          </a:ln>
        </p:spPr>
      </p:sp>
      <p:sp>
        <p:nvSpPr>
          <p:cNvPr id="17" name="Text 15"/>
          <p:cNvSpPr/>
          <p:nvPr/>
        </p:nvSpPr>
        <p:spPr>
          <a:xfrm>
            <a:off x="6720840" y="3749040"/>
            <a:ext cx="4160520" cy="566928"/>
          </a:xfrm>
          <a:prstGeom prst="rect">
            <a:avLst/>
          </a:prstGeom>
          <a:noFill/>
          <a:ln/>
        </p:spPr>
        <p:txBody>
          <a:bodyPr wrap="square" lIns="0" tIns="0" rIns="0" bIns="0" rtlCol="0" anchor="ctr"/>
          <a:lstStyle/>
          <a:p>
            <a:pPr algn="ctr" indent="0" marL="0">
              <a:buNone/>
            </a:pPr>
            <a:r>
              <a:rPr lang="en-US" sz="1100" b="1" dirty="0">
                <a:solidFill>
                  <a:srgbClr val="9E2B24"/>
                </a:solidFill>
                <a:latin typeface="Courier New" pitchFamily="34" charset="0"/>
                <a:ea typeface="Courier New" pitchFamily="34" charset="-122"/>
                <a:cs typeface="Courier New" pitchFamily="34" charset="-120"/>
              </a:rPr>
              <a:t>window_expired</a:t>
            </a:r>
            <a:endParaRPr lang="en-US" sz="1100" dirty="0"/>
          </a:p>
        </p:txBody>
      </p:sp>
      <p:sp>
        <p:nvSpPr>
          <p:cNvPr id="18" name="Shape 16"/>
          <p:cNvSpPr/>
          <p:nvPr/>
        </p:nvSpPr>
        <p:spPr>
          <a:xfrm>
            <a:off x="6720840" y="4572000"/>
            <a:ext cx="4160520" cy="1234440"/>
          </a:xfrm>
          <a:prstGeom prst="roundRect">
            <a:avLst>
              <a:gd name="adj" fmla="val 2963"/>
            </a:avLst>
          </a:prstGeom>
          <a:solidFill>
            <a:srgbClr val="F2F4F7"/>
          </a:solidFill>
          <a:ln w="9525">
            <a:solidFill>
              <a:srgbClr val="D2D8E0"/>
            </a:solidFill>
            <a:prstDash val="solid"/>
          </a:ln>
        </p:spPr>
      </p:sp>
      <p:sp>
        <p:nvSpPr>
          <p:cNvPr id="19" name="Text 17"/>
          <p:cNvSpPr/>
          <p:nvPr/>
        </p:nvSpPr>
        <p:spPr>
          <a:xfrm>
            <a:off x="6903720" y="4709160"/>
            <a:ext cx="3794760"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The limit worth stating</a:t>
            </a:r>
            <a:endParaRPr lang="en-US" sz="1300" dirty="0"/>
          </a:p>
        </p:txBody>
      </p:sp>
      <p:sp>
        <p:nvSpPr>
          <p:cNvPr id="20" name="Text 18"/>
          <p:cNvSpPr/>
          <p:nvPr/>
        </p:nvSpPr>
        <p:spPr>
          <a:xfrm>
            <a:off x="6903720" y="4992624"/>
            <a:ext cx="3794760" cy="667512"/>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The rule checks two distinct fingers, not two distinct people. Someone enrolling two of their own fingers under two names would pass — that is an enrolment failure, and the two photographs are the control against it.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12</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THE UNLOCK</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Twenty-one checks. Every one of them, every time.</a:t>
            </a:r>
            <a:endParaRPr lang="en-US" sz="3000" dirty="0"/>
          </a:p>
        </p:txBody>
      </p:sp>
      <p:sp>
        <p:nvSpPr>
          <p:cNvPr id="6" name="Text 4"/>
          <p:cNvSpPr/>
          <p:nvPr/>
        </p:nvSpPr>
        <p:spPr>
          <a:xfrm>
            <a:off x="502920" y="1874520"/>
            <a:ext cx="10607040" cy="594360"/>
          </a:xfrm>
          <a:prstGeom prst="rect">
            <a:avLst/>
          </a:prstGeom>
          <a:noFill/>
          <a:ln/>
        </p:spPr>
        <p:txBody>
          <a:bodyPr wrap="square" lIns="0" tIns="0" rIns="0" bIns="0" rtlCol="0" anchor="t"/>
          <a:lstStyle/>
          <a:p>
            <a:pPr indent="0" marL="0">
              <a:lnSpc>
                <a:spcPct val="118000"/>
              </a:lnSpc>
              <a:buNone/>
            </a:pPr>
            <a:r>
              <a:rPr lang="en-US" sz="1600" dirty="0">
                <a:solidFill>
                  <a:srgbClr val="0F141C"/>
                </a:solidFill>
                <a:latin typeface="Cambria" pitchFamily="34" charset="0"/>
                <a:ea typeface="Cambria" pitchFamily="34" charset="-122"/>
                <a:cs typeface="Cambria" pitchFamily="34" charset="-120"/>
              </a:rPr>
              <a:t>The answer starts at no. Each check must positively pass — and we never stop at the first failure.</a:t>
            </a:r>
            <a:endParaRPr lang="en-US" sz="1600" dirty="0"/>
          </a:p>
        </p:txBody>
      </p:sp>
      <p:sp>
        <p:nvSpPr>
          <p:cNvPr id="7" name="Shape 5"/>
          <p:cNvSpPr/>
          <p:nvPr/>
        </p:nvSpPr>
        <p:spPr>
          <a:xfrm>
            <a:off x="502920" y="2697480"/>
            <a:ext cx="2157984" cy="384048"/>
          </a:xfrm>
          <a:prstGeom prst="roundRect">
            <a:avLst>
              <a:gd name="adj" fmla="val 9524"/>
            </a:avLst>
          </a:prstGeom>
          <a:solidFill>
            <a:srgbClr val="E8F2ED"/>
          </a:solidFill>
          <a:ln w="9525">
            <a:solidFill>
              <a:srgbClr val="E8F2ED"/>
            </a:solidFill>
            <a:prstDash val="solid"/>
          </a:ln>
        </p:spPr>
      </p:sp>
      <p:sp>
        <p:nvSpPr>
          <p:cNvPr id="8" name="Text 6"/>
          <p:cNvSpPr/>
          <p:nvPr/>
        </p:nvSpPr>
        <p:spPr>
          <a:xfrm>
            <a:off x="502920" y="2697480"/>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key presented</a:t>
            </a:r>
            <a:endParaRPr lang="en-US" sz="850" dirty="0"/>
          </a:p>
        </p:txBody>
      </p:sp>
      <p:sp>
        <p:nvSpPr>
          <p:cNvPr id="9" name="Shape 7"/>
          <p:cNvSpPr/>
          <p:nvPr/>
        </p:nvSpPr>
        <p:spPr>
          <a:xfrm>
            <a:off x="2752344" y="2697480"/>
            <a:ext cx="2157984" cy="384048"/>
          </a:xfrm>
          <a:prstGeom prst="roundRect">
            <a:avLst>
              <a:gd name="adj" fmla="val 9524"/>
            </a:avLst>
          </a:prstGeom>
          <a:solidFill>
            <a:srgbClr val="E8F2ED"/>
          </a:solidFill>
          <a:ln w="9525">
            <a:solidFill>
              <a:srgbClr val="E8F2ED"/>
            </a:solidFill>
            <a:prstDash val="solid"/>
          </a:ln>
        </p:spPr>
      </p:sp>
      <p:sp>
        <p:nvSpPr>
          <p:cNvPr id="10" name="Text 8"/>
          <p:cNvSpPr/>
          <p:nvPr/>
        </p:nvSpPr>
        <p:spPr>
          <a:xfrm>
            <a:off x="2752344" y="2697480"/>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key valid</a:t>
            </a:r>
            <a:endParaRPr lang="en-US" sz="850" dirty="0"/>
          </a:p>
        </p:txBody>
      </p:sp>
      <p:sp>
        <p:nvSpPr>
          <p:cNvPr id="11" name="Shape 9"/>
          <p:cNvSpPr/>
          <p:nvPr/>
        </p:nvSpPr>
        <p:spPr>
          <a:xfrm>
            <a:off x="5001768" y="2697480"/>
            <a:ext cx="2157984" cy="384048"/>
          </a:xfrm>
          <a:prstGeom prst="roundRect">
            <a:avLst>
              <a:gd name="adj" fmla="val 9524"/>
            </a:avLst>
          </a:prstGeom>
          <a:solidFill>
            <a:srgbClr val="E8F2ED"/>
          </a:solidFill>
          <a:ln w="9525">
            <a:solidFill>
              <a:srgbClr val="E8F2ED"/>
            </a:solidFill>
            <a:prstDash val="solid"/>
          </a:ln>
        </p:spPr>
      </p:sp>
      <p:sp>
        <p:nvSpPr>
          <p:cNvPr id="12" name="Text 10"/>
          <p:cNvSpPr/>
          <p:nvPr/>
        </p:nvSpPr>
        <p:spPr>
          <a:xfrm>
            <a:off x="5001768" y="2697480"/>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key in window</a:t>
            </a:r>
            <a:endParaRPr lang="en-US" sz="850" dirty="0"/>
          </a:p>
        </p:txBody>
      </p:sp>
      <p:sp>
        <p:nvSpPr>
          <p:cNvPr id="13" name="Shape 11"/>
          <p:cNvSpPr/>
          <p:nvPr/>
        </p:nvSpPr>
        <p:spPr>
          <a:xfrm>
            <a:off x="7251192" y="2697480"/>
            <a:ext cx="2157984" cy="384048"/>
          </a:xfrm>
          <a:prstGeom prst="roundRect">
            <a:avLst>
              <a:gd name="adj" fmla="val 9524"/>
            </a:avLst>
          </a:prstGeom>
          <a:solidFill>
            <a:srgbClr val="E8F2ED"/>
          </a:solidFill>
          <a:ln w="9525">
            <a:solidFill>
              <a:srgbClr val="E8F2ED"/>
            </a:solidFill>
            <a:prstDash val="solid"/>
          </a:ln>
        </p:spPr>
      </p:sp>
      <p:sp>
        <p:nvSpPr>
          <p:cNvPr id="14" name="Text 12"/>
          <p:cNvSpPr/>
          <p:nvPr/>
        </p:nvSpPr>
        <p:spPr>
          <a:xfrm>
            <a:off x="7251192" y="2697480"/>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key stage match</a:t>
            </a:r>
            <a:endParaRPr lang="en-US" sz="850" dirty="0"/>
          </a:p>
        </p:txBody>
      </p:sp>
      <p:sp>
        <p:nvSpPr>
          <p:cNvPr id="15" name="Shape 13"/>
          <p:cNvSpPr/>
          <p:nvPr/>
        </p:nvSpPr>
        <p:spPr>
          <a:xfrm>
            <a:off x="9500616" y="2697480"/>
            <a:ext cx="2157984" cy="384048"/>
          </a:xfrm>
          <a:prstGeom prst="roundRect">
            <a:avLst>
              <a:gd name="adj" fmla="val 9524"/>
            </a:avLst>
          </a:prstGeom>
          <a:solidFill>
            <a:srgbClr val="E8F2ED"/>
          </a:solidFill>
          <a:ln w="9525">
            <a:solidFill>
              <a:srgbClr val="E8F2ED"/>
            </a:solidFill>
            <a:prstDash val="solid"/>
          </a:ln>
        </p:spPr>
      </p:sp>
      <p:sp>
        <p:nvSpPr>
          <p:cNvPr id="16" name="Text 14"/>
          <p:cNvSpPr/>
          <p:nvPr/>
        </p:nvSpPr>
        <p:spPr>
          <a:xfrm>
            <a:off x="9500616" y="2697480"/>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device enrolled</a:t>
            </a:r>
            <a:endParaRPr lang="en-US" sz="850" dirty="0"/>
          </a:p>
        </p:txBody>
      </p:sp>
      <p:sp>
        <p:nvSpPr>
          <p:cNvPr id="17" name="Shape 15"/>
          <p:cNvSpPr/>
          <p:nvPr/>
        </p:nvSpPr>
        <p:spPr>
          <a:xfrm>
            <a:off x="502920" y="3172968"/>
            <a:ext cx="2157984" cy="384048"/>
          </a:xfrm>
          <a:prstGeom prst="roundRect">
            <a:avLst>
              <a:gd name="adj" fmla="val 9524"/>
            </a:avLst>
          </a:prstGeom>
          <a:solidFill>
            <a:srgbClr val="E8F2ED"/>
          </a:solidFill>
          <a:ln w="9525">
            <a:solidFill>
              <a:srgbClr val="E8F2ED"/>
            </a:solidFill>
            <a:prstDash val="solid"/>
          </a:ln>
        </p:spPr>
      </p:sp>
      <p:sp>
        <p:nvSpPr>
          <p:cNvPr id="18" name="Text 16"/>
          <p:cNvSpPr/>
          <p:nvPr/>
        </p:nvSpPr>
        <p:spPr>
          <a:xfrm>
            <a:off x="502920" y="3172968"/>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device binding</a:t>
            </a:r>
            <a:endParaRPr lang="en-US" sz="850" dirty="0"/>
          </a:p>
        </p:txBody>
      </p:sp>
      <p:sp>
        <p:nvSpPr>
          <p:cNvPr id="19" name="Shape 17"/>
          <p:cNvSpPr/>
          <p:nvPr/>
        </p:nvSpPr>
        <p:spPr>
          <a:xfrm>
            <a:off x="2752344" y="3172968"/>
            <a:ext cx="2157984" cy="384048"/>
          </a:xfrm>
          <a:prstGeom prst="roundRect">
            <a:avLst>
              <a:gd name="adj" fmla="val 9524"/>
            </a:avLst>
          </a:prstGeom>
          <a:solidFill>
            <a:srgbClr val="E8F2ED"/>
          </a:solidFill>
          <a:ln w="9525">
            <a:solidFill>
              <a:srgbClr val="E8F2ED"/>
            </a:solidFill>
            <a:prstDash val="solid"/>
          </a:ln>
        </p:spPr>
      </p:sp>
      <p:sp>
        <p:nvSpPr>
          <p:cNvPr id="20" name="Text 18"/>
          <p:cNvSpPr/>
          <p:nvPr/>
        </p:nvSpPr>
        <p:spPr>
          <a:xfrm>
            <a:off x="2752344" y="3172968"/>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roster membership</a:t>
            </a:r>
            <a:endParaRPr lang="en-US" sz="850" dirty="0"/>
          </a:p>
        </p:txBody>
      </p:sp>
      <p:sp>
        <p:nvSpPr>
          <p:cNvPr id="21" name="Shape 19"/>
          <p:cNvSpPr/>
          <p:nvPr/>
        </p:nvSpPr>
        <p:spPr>
          <a:xfrm>
            <a:off x="5001768" y="3172968"/>
            <a:ext cx="2157984" cy="384048"/>
          </a:xfrm>
          <a:prstGeom prst="roundRect">
            <a:avLst>
              <a:gd name="adj" fmla="val 9524"/>
            </a:avLst>
          </a:prstGeom>
          <a:solidFill>
            <a:srgbClr val="E8F2ED"/>
          </a:solidFill>
          <a:ln w="9525">
            <a:solidFill>
              <a:srgbClr val="E8F2ED"/>
            </a:solidFill>
            <a:prstDash val="solid"/>
          </a:ln>
        </p:spPr>
      </p:sp>
      <p:sp>
        <p:nvSpPr>
          <p:cNvPr id="22" name="Text 20"/>
          <p:cNvSpPr/>
          <p:nvPr/>
        </p:nvSpPr>
        <p:spPr>
          <a:xfrm>
            <a:off x="5001768" y="3172968"/>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role permitted</a:t>
            </a:r>
            <a:endParaRPr lang="en-US" sz="850" dirty="0"/>
          </a:p>
        </p:txBody>
      </p:sp>
      <p:sp>
        <p:nvSpPr>
          <p:cNvPr id="23" name="Shape 21"/>
          <p:cNvSpPr/>
          <p:nvPr/>
        </p:nvSpPr>
        <p:spPr>
          <a:xfrm>
            <a:off x="7251192" y="3172968"/>
            <a:ext cx="2157984" cy="384048"/>
          </a:xfrm>
          <a:prstGeom prst="roundRect">
            <a:avLst>
              <a:gd name="adj" fmla="val 9524"/>
            </a:avLst>
          </a:prstGeom>
          <a:solidFill>
            <a:srgbClr val="E8F2ED"/>
          </a:solidFill>
          <a:ln w="9525">
            <a:solidFill>
              <a:srgbClr val="E8F2ED"/>
            </a:solidFill>
            <a:prstDash val="solid"/>
          </a:ln>
        </p:spPr>
      </p:sp>
      <p:sp>
        <p:nvSpPr>
          <p:cNvPr id="24" name="Text 22"/>
          <p:cNvSpPr/>
          <p:nvPr/>
        </p:nvSpPr>
        <p:spPr>
          <a:xfrm>
            <a:off x="7251192" y="3172968"/>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geofence</a:t>
            </a:r>
            <a:endParaRPr lang="en-US" sz="850" dirty="0"/>
          </a:p>
        </p:txBody>
      </p:sp>
      <p:sp>
        <p:nvSpPr>
          <p:cNvPr id="25" name="Shape 23"/>
          <p:cNvSpPr/>
          <p:nvPr/>
        </p:nvSpPr>
        <p:spPr>
          <a:xfrm>
            <a:off x="9500616" y="3172968"/>
            <a:ext cx="2157984" cy="384048"/>
          </a:xfrm>
          <a:prstGeom prst="roundRect">
            <a:avLst>
              <a:gd name="adj" fmla="val 9524"/>
            </a:avLst>
          </a:prstGeom>
          <a:solidFill>
            <a:srgbClr val="E8F2ED"/>
          </a:solidFill>
          <a:ln w="9525">
            <a:solidFill>
              <a:srgbClr val="E8F2ED"/>
            </a:solidFill>
            <a:prstDash val="solid"/>
          </a:ln>
        </p:spPr>
      </p:sp>
      <p:sp>
        <p:nvSpPr>
          <p:cNvPr id="26" name="Text 24"/>
          <p:cNvSpPr/>
          <p:nvPr/>
        </p:nvSpPr>
        <p:spPr>
          <a:xfrm>
            <a:off x="9500616" y="3172968"/>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position accuracy</a:t>
            </a:r>
            <a:endParaRPr lang="en-US" sz="850" dirty="0"/>
          </a:p>
        </p:txBody>
      </p:sp>
      <p:sp>
        <p:nvSpPr>
          <p:cNvPr id="27" name="Shape 25"/>
          <p:cNvSpPr/>
          <p:nvPr/>
        </p:nvSpPr>
        <p:spPr>
          <a:xfrm>
            <a:off x="502920" y="3648456"/>
            <a:ext cx="2157984" cy="384048"/>
          </a:xfrm>
          <a:prstGeom prst="roundRect">
            <a:avLst>
              <a:gd name="adj" fmla="val 9524"/>
            </a:avLst>
          </a:prstGeom>
          <a:solidFill>
            <a:srgbClr val="E8F2ED"/>
          </a:solidFill>
          <a:ln w="9525">
            <a:solidFill>
              <a:srgbClr val="E8F2ED"/>
            </a:solidFill>
            <a:prstDash val="solid"/>
          </a:ln>
        </p:spPr>
      </p:sp>
      <p:sp>
        <p:nvSpPr>
          <p:cNvPr id="28" name="Text 26"/>
          <p:cNvSpPr/>
          <p:nvPr/>
        </p:nvSpPr>
        <p:spPr>
          <a:xfrm>
            <a:off x="502920" y="3648456"/>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clock skew</a:t>
            </a:r>
            <a:endParaRPr lang="en-US" sz="850" dirty="0"/>
          </a:p>
        </p:txBody>
      </p:sp>
      <p:sp>
        <p:nvSpPr>
          <p:cNvPr id="29" name="Shape 27"/>
          <p:cNvSpPr/>
          <p:nvPr/>
        </p:nvSpPr>
        <p:spPr>
          <a:xfrm>
            <a:off x="2752344" y="3648456"/>
            <a:ext cx="2157984" cy="384048"/>
          </a:xfrm>
          <a:prstGeom prst="roundRect">
            <a:avLst>
              <a:gd name="adj" fmla="val 9524"/>
            </a:avLst>
          </a:prstGeom>
          <a:solidFill>
            <a:srgbClr val="E8F2ED"/>
          </a:solidFill>
          <a:ln w="9525">
            <a:solidFill>
              <a:srgbClr val="E8F2ED"/>
            </a:solidFill>
            <a:prstDash val="solid"/>
          </a:ln>
        </p:spPr>
      </p:sp>
      <p:sp>
        <p:nvSpPr>
          <p:cNvPr id="30" name="Text 28"/>
          <p:cNvSpPr/>
          <p:nvPr/>
        </p:nvSpPr>
        <p:spPr>
          <a:xfrm>
            <a:off x="2752344" y="3648456"/>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custody window</a:t>
            </a:r>
            <a:endParaRPr lang="en-US" sz="850" dirty="0"/>
          </a:p>
        </p:txBody>
      </p:sp>
      <p:sp>
        <p:nvSpPr>
          <p:cNvPr id="31" name="Shape 29"/>
          <p:cNvSpPr/>
          <p:nvPr/>
        </p:nvSpPr>
        <p:spPr>
          <a:xfrm>
            <a:off x="5001768" y="3648456"/>
            <a:ext cx="2157984" cy="384048"/>
          </a:xfrm>
          <a:prstGeom prst="roundRect">
            <a:avLst>
              <a:gd name="adj" fmla="val 9524"/>
            </a:avLst>
          </a:prstGeom>
          <a:solidFill>
            <a:srgbClr val="E8F2ED"/>
          </a:solidFill>
          <a:ln w="9525">
            <a:solidFill>
              <a:srgbClr val="E8F2ED"/>
            </a:solidFill>
            <a:prstDash val="solid"/>
          </a:ln>
        </p:spPr>
      </p:sp>
      <p:sp>
        <p:nvSpPr>
          <p:cNvPr id="32" name="Text 30"/>
          <p:cNvSpPr/>
          <p:nvPr/>
        </p:nvSpPr>
        <p:spPr>
          <a:xfrm>
            <a:off x="5001768" y="3648456"/>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seal serial</a:t>
            </a:r>
            <a:endParaRPr lang="en-US" sz="850" dirty="0"/>
          </a:p>
        </p:txBody>
      </p:sp>
      <p:sp>
        <p:nvSpPr>
          <p:cNvPr id="33" name="Shape 31"/>
          <p:cNvSpPr/>
          <p:nvPr/>
        </p:nvSpPr>
        <p:spPr>
          <a:xfrm>
            <a:off x="7251192" y="3648456"/>
            <a:ext cx="2157984" cy="384048"/>
          </a:xfrm>
          <a:prstGeom prst="roundRect">
            <a:avLst>
              <a:gd name="adj" fmla="val 9524"/>
            </a:avLst>
          </a:prstGeom>
          <a:solidFill>
            <a:srgbClr val="E8F2ED"/>
          </a:solidFill>
          <a:ln w="9525">
            <a:solidFill>
              <a:srgbClr val="E8F2ED"/>
            </a:solidFill>
            <a:prstDash val="solid"/>
          </a:ln>
        </p:spPr>
      </p:sp>
      <p:sp>
        <p:nvSpPr>
          <p:cNvPr id="34" name="Text 32"/>
          <p:cNvSpPr/>
          <p:nvPr/>
        </p:nvSpPr>
        <p:spPr>
          <a:xfrm>
            <a:off x="7251192" y="3648456"/>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package state</a:t>
            </a:r>
            <a:endParaRPr lang="en-US" sz="850" dirty="0"/>
          </a:p>
        </p:txBody>
      </p:sp>
      <p:sp>
        <p:nvSpPr>
          <p:cNvPr id="35" name="Shape 33"/>
          <p:cNvSpPr/>
          <p:nvPr/>
        </p:nvSpPr>
        <p:spPr>
          <a:xfrm>
            <a:off x="9500616" y="3648456"/>
            <a:ext cx="2157984" cy="384048"/>
          </a:xfrm>
          <a:prstGeom prst="roundRect">
            <a:avLst>
              <a:gd name="adj" fmla="val 9524"/>
            </a:avLst>
          </a:prstGeom>
          <a:solidFill>
            <a:srgbClr val="E8F2ED"/>
          </a:solidFill>
          <a:ln w="9525">
            <a:solidFill>
              <a:srgbClr val="E8F2ED"/>
            </a:solidFill>
            <a:prstDash val="solid"/>
          </a:ln>
        </p:spPr>
      </p:sp>
      <p:sp>
        <p:nvSpPr>
          <p:cNvPr id="36" name="Text 34"/>
          <p:cNvSpPr/>
          <p:nvPr/>
        </p:nvSpPr>
        <p:spPr>
          <a:xfrm>
            <a:off x="9500616" y="3648456"/>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exam active</a:t>
            </a:r>
            <a:endParaRPr lang="en-US" sz="850" dirty="0"/>
          </a:p>
        </p:txBody>
      </p:sp>
      <p:sp>
        <p:nvSpPr>
          <p:cNvPr id="37" name="Shape 35"/>
          <p:cNvSpPr/>
          <p:nvPr/>
        </p:nvSpPr>
        <p:spPr>
          <a:xfrm>
            <a:off x="502920" y="4123944"/>
            <a:ext cx="2157984" cy="384048"/>
          </a:xfrm>
          <a:prstGeom prst="roundRect">
            <a:avLst>
              <a:gd name="adj" fmla="val 9524"/>
            </a:avLst>
          </a:prstGeom>
          <a:solidFill>
            <a:srgbClr val="E8F2ED"/>
          </a:solidFill>
          <a:ln w="9525">
            <a:solidFill>
              <a:srgbClr val="E8F2ED"/>
            </a:solidFill>
            <a:prstDash val="solid"/>
          </a:ln>
        </p:spPr>
      </p:sp>
      <p:sp>
        <p:nvSpPr>
          <p:cNvPr id="38" name="Text 36"/>
          <p:cNvSpPr/>
          <p:nvPr/>
        </p:nvSpPr>
        <p:spPr>
          <a:xfrm>
            <a:off x="502920" y="4123944"/>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first fingerprint</a:t>
            </a:r>
            <a:endParaRPr lang="en-US" sz="850" dirty="0"/>
          </a:p>
        </p:txBody>
      </p:sp>
      <p:sp>
        <p:nvSpPr>
          <p:cNvPr id="39" name="Shape 37"/>
          <p:cNvSpPr/>
          <p:nvPr/>
        </p:nvSpPr>
        <p:spPr>
          <a:xfrm>
            <a:off x="2752344" y="4123944"/>
            <a:ext cx="2157984" cy="384048"/>
          </a:xfrm>
          <a:prstGeom prst="roundRect">
            <a:avLst>
              <a:gd name="adj" fmla="val 9524"/>
            </a:avLst>
          </a:prstGeom>
          <a:solidFill>
            <a:srgbClr val="E8F2ED"/>
          </a:solidFill>
          <a:ln w="9525">
            <a:solidFill>
              <a:srgbClr val="E8F2ED"/>
            </a:solidFill>
            <a:prstDash val="solid"/>
          </a:ln>
        </p:spPr>
      </p:sp>
      <p:sp>
        <p:nvSpPr>
          <p:cNvPr id="40" name="Text 38"/>
          <p:cNvSpPr/>
          <p:nvPr/>
        </p:nvSpPr>
        <p:spPr>
          <a:xfrm>
            <a:off x="2752344" y="4123944"/>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second fingerprint</a:t>
            </a:r>
            <a:endParaRPr lang="en-US" sz="850" dirty="0"/>
          </a:p>
        </p:txBody>
      </p:sp>
      <p:sp>
        <p:nvSpPr>
          <p:cNvPr id="41" name="Shape 39"/>
          <p:cNvSpPr/>
          <p:nvPr/>
        </p:nvSpPr>
        <p:spPr>
          <a:xfrm>
            <a:off x="5001768" y="4123944"/>
            <a:ext cx="2157984" cy="384048"/>
          </a:xfrm>
          <a:prstGeom prst="roundRect">
            <a:avLst>
              <a:gd name="adj" fmla="val 9524"/>
            </a:avLst>
          </a:prstGeom>
          <a:solidFill>
            <a:srgbClr val="E8F2ED"/>
          </a:solidFill>
          <a:ln w="9525">
            <a:solidFill>
              <a:srgbClr val="E8F2ED"/>
            </a:solidFill>
            <a:prstDash val="solid"/>
          </a:ln>
        </p:spPr>
      </p:sp>
      <p:sp>
        <p:nvSpPr>
          <p:cNvPr id="42" name="Text 40"/>
          <p:cNvSpPr/>
          <p:nvPr/>
        </p:nvSpPr>
        <p:spPr>
          <a:xfrm>
            <a:off x="5001768" y="4123944"/>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two-person window</a:t>
            </a:r>
            <a:endParaRPr lang="en-US" sz="850" dirty="0"/>
          </a:p>
        </p:txBody>
      </p:sp>
      <p:sp>
        <p:nvSpPr>
          <p:cNvPr id="43" name="Shape 41"/>
          <p:cNvSpPr/>
          <p:nvPr/>
        </p:nvSpPr>
        <p:spPr>
          <a:xfrm>
            <a:off x="7251192" y="4123944"/>
            <a:ext cx="2157984" cy="384048"/>
          </a:xfrm>
          <a:prstGeom prst="roundRect">
            <a:avLst>
              <a:gd name="adj" fmla="val 9524"/>
            </a:avLst>
          </a:prstGeom>
          <a:solidFill>
            <a:srgbClr val="E8F2ED"/>
          </a:solidFill>
          <a:ln w="9525">
            <a:solidFill>
              <a:srgbClr val="E8F2ED"/>
            </a:solidFill>
            <a:prstDash val="solid"/>
          </a:ln>
        </p:spPr>
      </p:sp>
      <p:sp>
        <p:nvSpPr>
          <p:cNvPr id="44" name="Text 42"/>
          <p:cNvSpPr/>
          <p:nvPr/>
        </p:nvSpPr>
        <p:spPr>
          <a:xfrm>
            <a:off x="7251192" y="4123944"/>
            <a:ext cx="2157984" cy="384048"/>
          </a:xfrm>
          <a:prstGeom prst="rect">
            <a:avLst/>
          </a:prstGeom>
          <a:noFill/>
          <a:ln/>
        </p:spPr>
        <p:txBody>
          <a:bodyPr wrap="square" lIns="0" tIns="0" rIns="0" bIns="0" rtlCol="0" anchor="ctr"/>
          <a:lstStyle/>
          <a:p>
            <a:pPr algn="ctr" indent="0" marL="0">
              <a:buNone/>
            </a:pPr>
            <a:r>
              <a:rPr lang="en-US" sz="850" dirty="0">
                <a:solidFill>
                  <a:srgbClr val="24604A"/>
                </a:solidFill>
                <a:latin typeface="Courier New" pitchFamily="34" charset="0"/>
                <a:ea typeface="Courier New" pitchFamily="34" charset="-122"/>
                <a:cs typeface="Courier New" pitchFamily="34" charset="-120"/>
              </a:rPr>
              <a:t>photograph taken</a:t>
            </a:r>
            <a:endParaRPr lang="en-US" sz="850" dirty="0"/>
          </a:p>
        </p:txBody>
      </p:sp>
      <p:sp>
        <p:nvSpPr>
          <p:cNvPr id="45" name="Shape 43"/>
          <p:cNvSpPr/>
          <p:nvPr/>
        </p:nvSpPr>
        <p:spPr>
          <a:xfrm>
            <a:off x="9500616" y="4123944"/>
            <a:ext cx="2157984" cy="384048"/>
          </a:xfrm>
          <a:prstGeom prst="roundRect">
            <a:avLst>
              <a:gd name="adj" fmla="val 9524"/>
            </a:avLst>
          </a:prstGeom>
          <a:solidFill>
            <a:srgbClr val="F2F4F7"/>
          </a:solidFill>
          <a:ln w="9525">
            <a:solidFill>
              <a:srgbClr val="D2D8E0"/>
            </a:solidFill>
            <a:prstDash val="solid"/>
          </a:ln>
        </p:spPr>
      </p:sp>
      <p:sp>
        <p:nvSpPr>
          <p:cNvPr id="46" name="Text 44"/>
          <p:cNvSpPr/>
          <p:nvPr/>
        </p:nvSpPr>
        <p:spPr>
          <a:xfrm>
            <a:off x="9500616" y="4123944"/>
            <a:ext cx="2157984" cy="384048"/>
          </a:xfrm>
          <a:prstGeom prst="rect">
            <a:avLst/>
          </a:prstGeom>
          <a:noFill/>
          <a:ln/>
        </p:spPr>
        <p:txBody>
          <a:bodyPr wrap="square" lIns="0" tIns="0" rIns="0" bIns="0" rtlCol="0" anchor="ctr"/>
          <a:lstStyle/>
          <a:p>
            <a:pPr algn="ctr" indent="0" marL="0">
              <a:buNone/>
            </a:pPr>
            <a:r>
              <a:rPr lang="en-US" sz="850" dirty="0">
                <a:solidFill>
                  <a:srgbClr val="6B7684"/>
                </a:solidFill>
                <a:latin typeface="Courier New" pitchFamily="34" charset="0"/>
                <a:ea typeface="Courier New" pitchFamily="34" charset="-122"/>
                <a:cs typeface="Courier New" pitchFamily="34" charset="-120"/>
              </a:rPr>
              <a:t>seal lock — no sensor</a:t>
            </a:r>
            <a:endParaRPr lang="en-US" sz="850" dirty="0"/>
          </a:p>
        </p:txBody>
      </p:sp>
      <p:sp>
        <p:nvSpPr>
          <p:cNvPr id="47" name="Shape 45"/>
          <p:cNvSpPr/>
          <p:nvPr/>
        </p:nvSpPr>
        <p:spPr>
          <a:xfrm>
            <a:off x="502920" y="4599432"/>
            <a:ext cx="2157984" cy="384048"/>
          </a:xfrm>
          <a:prstGeom prst="roundRect">
            <a:avLst>
              <a:gd name="adj" fmla="val 9524"/>
            </a:avLst>
          </a:prstGeom>
          <a:solidFill>
            <a:srgbClr val="F2F4F7"/>
          </a:solidFill>
          <a:ln w="9525">
            <a:solidFill>
              <a:srgbClr val="D2D8E0"/>
            </a:solidFill>
            <a:prstDash val="solid"/>
          </a:ln>
        </p:spPr>
      </p:sp>
      <p:sp>
        <p:nvSpPr>
          <p:cNvPr id="48" name="Text 46"/>
          <p:cNvSpPr/>
          <p:nvPr/>
        </p:nvSpPr>
        <p:spPr>
          <a:xfrm>
            <a:off x="502920" y="4599432"/>
            <a:ext cx="2157984" cy="384048"/>
          </a:xfrm>
          <a:prstGeom prst="rect">
            <a:avLst/>
          </a:prstGeom>
          <a:noFill/>
          <a:ln/>
        </p:spPr>
        <p:txBody>
          <a:bodyPr wrap="square" lIns="0" tIns="0" rIns="0" bIns="0" rtlCol="0" anchor="ctr"/>
          <a:lstStyle/>
          <a:p>
            <a:pPr algn="ctr" indent="0" marL="0">
              <a:buNone/>
            </a:pPr>
            <a:r>
              <a:rPr lang="en-US" sz="850" dirty="0">
                <a:solidFill>
                  <a:srgbClr val="6B7684"/>
                </a:solidFill>
                <a:latin typeface="Courier New" pitchFamily="34" charset="0"/>
                <a:ea typeface="Courier New" pitchFamily="34" charset="-122"/>
                <a:cs typeface="Courier New" pitchFamily="34" charset="-120"/>
              </a:rPr>
              <a:t>room occupancy — no sensor</a:t>
            </a:r>
            <a:endParaRPr lang="en-US" sz="850" dirty="0"/>
          </a:p>
        </p:txBody>
      </p:sp>
      <p:sp>
        <p:nvSpPr>
          <p:cNvPr id="49" name="Shape 47"/>
          <p:cNvSpPr/>
          <p:nvPr/>
        </p:nvSpPr>
        <p:spPr>
          <a:xfrm>
            <a:off x="502920" y="5029200"/>
            <a:ext cx="5577840" cy="1325880"/>
          </a:xfrm>
          <a:prstGeom prst="roundRect">
            <a:avLst>
              <a:gd name="adj" fmla="val 2759"/>
            </a:avLst>
          </a:prstGeom>
          <a:solidFill>
            <a:srgbClr val="F2ECFA"/>
          </a:solidFill>
          <a:ln w="9525">
            <a:solidFill>
              <a:srgbClr val="C0A8DC"/>
            </a:solidFill>
            <a:prstDash val="solid"/>
          </a:ln>
        </p:spPr>
      </p:sp>
      <p:sp>
        <p:nvSpPr>
          <p:cNvPr id="50" name="Text 48"/>
          <p:cNvSpPr/>
          <p:nvPr/>
        </p:nvSpPr>
        <p:spPr>
          <a:xfrm>
            <a:off x="704088" y="5148072"/>
            <a:ext cx="5175504" cy="182880"/>
          </a:xfrm>
          <a:prstGeom prst="rect">
            <a:avLst/>
          </a:prstGeom>
          <a:noFill/>
          <a:ln/>
        </p:spPr>
        <p:txBody>
          <a:bodyPr wrap="square" lIns="0" tIns="0" rIns="0" bIns="0" rtlCol="0" anchor="ctr"/>
          <a:lstStyle/>
          <a:p>
            <a:pPr indent="0" marL="0">
              <a:buNone/>
            </a:pPr>
            <a:r>
              <a:rPr lang="en-US" sz="800" spc="150" kern="0" dirty="0">
                <a:solidFill>
                  <a:srgbClr val="5B3490"/>
                </a:solidFill>
                <a:latin typeface="Courier New" pitchFamily="34" charset="0"/>
                <a:ea typeface="Courier New" pitchFamily="34" charset="-122"/>
                <a:cs typeface="Courier New" pitchFamily="34" charset="-120"/>
              </a:rPr>
              <a:t>THE TECHNICAL NAME</a:t>
            </a:r>
            <a:endParaRPr lang="en-US" sz="800" dirty="0"/>
          </a:p>
        </p:txBody>
      </p:sp>
      <p:sp>
        <p:nvSpPr>
          <p:cNvPr id="51" name="Text 49"/>
          <p:cNvSpPr/>
          <p:nvPr/>
        </p:nvSpPr>
        <p:spPr>
          <a:xfrm>
            <a:off x="704088" y="5340096"/>
            <a:ext cx="5175504" cy="228600"/>
          </a:xfrm>
          <a:prstGeom prst="rect">
            <a:avLst/>
          </a:prstGeom>
          <a:noFill/>
          <a:ln/>
        </p:spPr>
        <p:txBody>
          <a:bodyPr wrap="square" lIns="0" tIns="0" rIns="0" bIns="0" rtlCol="0" anchor="ctr"/>
          <a:lstStyle/>
          <a:p>
            <a:pPr indent="0" marL="0">
              <a:buNone/>
            </a:pPr>
            <a:r>
              <a:rPr lang="en-US" sz="1200" b="1" dirty="0">
                <a:solidFill>
                  <a:srgbClr val="0F141C"/>
                </a:solidFill>
                <a:latin typeface="Courier New" pitchFamily="34" charset="0"/>
                <a:ea typeface="Courier New" pitchFamily="34" charset="-122"/>
                <a:cs typeface="Courier New" pitchFamily="34" charset="-120"/>
              </a:rPr>
              <a:t>deny by default · no short-circuit</a:t>
            </a:r>
            <a:endParaRPr lang="en-US" sz="1200" dirty="0"/>
          </a:p>
        </p:txBody>
      </p:sp>
      <p:sp>
        <p:nvSpPr>
          <p:cNvPr id="52" name="Text 50"/>
          <p:cNvSpPr/>
          <p:nvPr/>
        </p:nvSpPr>
        <p:spPr>
          <a:xfrm>
            <a:off x="704088" y="5596128"/>
            <a:ext cx="5175504" cy="612648"/>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The attempt is written to the record before the answer is returned — so there is no sequence of events in which someone learns the outcome without the attempt being on record.</a:t>
            </a:r>
            <a:endParaRPr lang="en-US" sz="1100" dirty="0"/>
          </a:p>
        </p:txBody>
      </p:sp>
      <p:sp>
        <p:nvSpPr>
          <p:cNvPr id="53" name="Shape 51"/>
          <p:cNvSpPr/>
          <p:nvPr/>
        </p:nvSpPr>
        <p:spPr>
          <a:xfrm>
            <a:off x="6446520" y="5029200"/>
            <a:ext cx="5212080" cy="1325880"/>
          </a:xfrm>
          <a:prstGeom prst="roundRect">
            <a:avLst>
              <a:gd name="adj" fmla="val 2759"/>
            </a:avLst>
          </a:prstGeom>
          <a:solidFill>
            <a:srgbClr val="F2ECFA"/>
          </a:solidFill>
          <a:ln w="9525">
            <a:solidFill>
              <a:srgbClr val="C0A8DC"/>
            </a:solidFill>
            <a:prstDash val="solid"/>
          </a:ln>
        </p:spPr>
      </p:sp>
      <p:sp>
        <p:nvSpPr>
          <p:cNvPr id="54" name="Text 52"/>
          <p:cNvSpPr/>
          <p:nvPr/>
        </p:nvSpPr>
        <p:spPr>
          <a:xfrm>
            <a:off x="6629400" y="5166360"/>
            <a:ext cx="4846320" cy="256032"/>
          </a:xfrm>
          <a:prstGeom prst="rect">
            <a:avLst/>
          </a:prstGeom>
          <a:noFill/>
          <a:ln/>
        </p:spPr>
        <p:txBody>
          <a:bodyPr wrap="square" lIns="0" tIns="0" rIns="0" bIns="0" rtlCol="0" anchor="ctr"/>
          <a:lstStyle/>
          <a:p>
            <a:pPr indent="0" marL="0">
              <a:buNone/>
            </a:pPr>
            <a:r>
              <a:rPr lang="en-US" sz="1300" b="1" dirty="0">
                <a:solidFill>
                  <a:srgbClr val="5B3490"/>
                </a:solidFill>
                <a:latin typeface="Calibri" pitchFamily="34" charset="0"/>
                <a:ea typeface="Calibri" pitchFamily="34" charset="-122"/>
                <a:cs typeface="Calibri" pitchFamily="34" charset="-120"/>
              </a:rPr>
              <a:t>The two grey ones</a:t>
            </a:r>
            <a:endParaRPr lang="en-US" sz="1300" dirty="0"/>
          </a:p>
        </p:txBody>
      </p:sp>
      <p:sp>
        <p:nvSpPr>
          <p:cNvPr id="55" name="Text 53"/>
          <p:cNvSpPr/>
          <p:nvPr/>
        </p:nvSpPr>
        <p:spPr>
          <a:xfrm>
            <a:off x="6629400" y="5449824"/>
            <a:ext cx="4846320" cy="758952"/>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Those report “not evaluated” because we have no seal-lock sensor and no occupancy sensor on the bench. The system does not quietly pass them. A demonstration that scored 21 out of 21 would be telling you something untrue.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13</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THE UNLOCK</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Only now does the paper open.</a:t>
            </a:r>
            <a:endParaRPr lang="en-US" sz="3000" dirty="0"/>
          </a:p>
        </p:txBody>
      </p:sp>
      <p:sp>
        <p:nvSpPr>
          <p:cNvPr id="6" name="Shape 4"/>
          <p:cNvSpPr/>
          <p:nvPr/>
        </p:nvSpPr>
        <p:spPr>
          <a:xfrm>
            <a:off x="502920" y="2103120"/>
            <a:ext cx="5120640" cy="658368"/>
          </a:xfrm>
          <a:prstGeom prst="roundRect">
            <a:avLst>
              <a:gd name="adj" fmla="val 5556"/>
            </a:avLst>
          </a:prstGeom>
          <a:solidFill>
            <a:srgbClr val="E8F2ED"/>
          </a:solidFill>
          <a:ln w="9525">
            <a:solidFill>
              <a:srgbClr val="24604A"/>
            </a:solidFill>
            <a:prstDash val="solid"/>
          </a:ln>
        </p:spPr>
      </p:sp>
      <p:sp>
        <p:nvSpPr>
          <p:cNvPr id="7" name="Text 5"/>
          <p:cNvSpPr/>
          <p:nvPr/>
        </p:nvSpPr>
        <p:spPr>
          <a:xfrm>
            <a:off x="502920" y="2103120"/>
            <a:ext cx="5120640" cy="658368"/>
          </a:xfrm>
          <a:prstGeom prst="rect">
            <a:avLst/>
          </a:prstGeom>
          <a:noFill/>
          <a:ln/>
        </p:spPr>
        <p:txBody>
          <a:bodyPr wrap="square" lIns="0" tIns="0" rIns="0" bIns="0" rtlCol="0" anchor="ctr"/>
          <a:lstStyle/>
          <a:p>
            <a:pPr algn="ctr" indent="0" marL="0">
              <a:buNone/>
            </a:pPr>
            <a:r>
              <a:rPr lang="en-US" sz="1300" b="1" dirty="0">
                <a:solidFill>
                  <a:srgbClr val="24604A"/>
                </a:solidFill>
                <a:latin typeface="Courier New" pitchFamily="34" charset="0"/>
                <a:ea typeface="Courier New" pitchFamily="34" charset="-122"/>
                <a:cs typeface="Courier New" pitchFamily="34" charset="-120"/>
              </a:rPr>
              <a:t>ACCESS GRANTED</a:t>
            </a:r>
            <a:endParaRPr lang="en-US" sz="1300" dirty="0"/>
          </a:p>
        </p:txBody>
      </p:sp>
      <p:sp>
        <p:nvSpPr>
          <p:cNvPr id="8" name="Text 6"/>
          <p:cNvSpPr/>
          <p:nvPr/>
        </p:nvSpPr>
        <p:spPr>
          <a:xfrm>
            <a:off x="502920" y="2816352"/>
            <a:ext cx="5120640" cy="347472"/>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502920" y="3182112"/>
            <a:ext cx="5120640" cy="566928"/>
          </a:xfrm>
          <a:prstGeom prst="roundRect">
            <a:avLst>
              <a:gd name="adj" fmla="val 6452"/>
            </a:avLst>
          </a:prstGeom>
          <a:solidFill>
            <a:srgbClr val="F2ECFA"/>
          </a:solidFill>
          <a:ln w="9525">
            <a:solidFill>
              <a:srgbClr val="C0A8DC"/>
            </a:solidFill>
            <a:prstDash val="solid"/>
          </a:ln>
        </p:spPr>
      </p:sp>
      <p:sp>
        <p:nvSpPr>
          <p:cNvPr id="10" name="Text 8"/>
          <p:cNvSpPr/>
          <p:nvPr/>
        </p:nvSpPr>
        <p:spPr>
          <a:xfrm>
            <a:off x="502920" y="3182112"/>
            <a:ext cx="5120640" cy="566928"/>
          </a:xfrm>
          <a:prstGeom prst="rect">
            <a:avLst/>
          </a:prstGeom>
          <a:noFill/>
          <a:ln/>
        </p:spPr>
        <p:txBody>
          <a:bodyPr wrap="square" lIns="0" tIns="0" rIns="0" bIns="0" rtlCol="0" anchor="ctr"/>
          <a:lstStyle/>
          <a:p>
            <a:pPr algn="ctr" indent="0" marL="0">
              <a:buNone/>
            </a:pPr>
            <a:r>
              <a:rPr lang="en-US" sz="1000" dirty="0">
                <a:solidFill>
                  <a:srgbClr val="5B3490"/>
                </a:solidFill>
                <a:latin typeface="Calibri" pitchFamily="34" charset="0"/>
                <a:ea typeface="Calibri" pitchFamily="34" charset="-122"/>
                <a:cs typeface="Calibri" pitchFamily="34" charset="-120"/>
              </a:rPr>
              <a:t>3 of 4 pieces  →  key rebuilt</a:t>
            </a:r>
            <a:endParaRPr lang="en-US" sz="1000" dirty="0"/>
          </a:p>
        </p:txBody>
      </p:sp>
      <p:sp>
        <p:nvSpPr>
          <p:cNvPr id="11" name="Text 9"/>
          <p:cNvSpPr/>
          <p:nvPr/>
        </p:nvSpPr>
        <p:spPr>
          <a:xfrm>
            <a:off x="502920" y="3803904"/>
            <a:ext cx="5120640" cy="347472"/>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502920" y="4169664"/>
            <a:ext cx="5120640" cy="566928"/>
          </a:xfrm>
          <a:prstGeom prst="roundRect">
            <a:avLst>
              <a:gd name="adj" fmla="val 6452"/>
            </a:avLst>
          </a:prstGeom>
          <a:solidFill>
            <a:srgbClr val="E8F2ED"/>
          </a:solidFill>
          <a:ln w="9525">
            <a:solidFill>
              <a:srgbClr val="24604A"/>
            </a:solidFill>
            <a:prstDash val="solid"/>
          </a:ln>
        </p:spPr>
      </p:sp>
      <p:sp>
        <p:nvSpPr>
          <p:cNvPr id="13" name="Text 11"/>
          <p:cNvSpPr/>
          <p:nvPr/>
        </p:nvSpPr>
        <p:spPr>
          <a:xfrm>
            <a:off x="502920" y="4169664"/>
            <a:ext cx="5120640" cy="566928"/>
          </a:xfrm>
          <a:prstGeom prst="rect">
            <a:avLst/>
          </a:prstGeom>
          <a:noFill/>
          <a:ln/>
        </p:spPr>
        <p:txBody>
          <a:bodyPr wrap="square" lIns="0" tIns="0" rIns="0" bIns="0" rtlCol="0" anchor="ctr"/>
          <a:lstStyle/>
          <a:p>
            <a:pPr algn="ctr" indent="0" marL="0">
              <a:buNone/>
            </a:pPr>
            <a:r>
              <a:rPr lang="en-US" sz="1000" dirty="0">
                <a:solidFill>
                  <a:srgbClr val="24604A"/>
                </a:solidFill>
                <a:latin typeface="Calibri" pitchFamily="34" charset="0"/>
                <a:ea typeface="Calibri" pitchFamily="34" charset="-122"/>
                <a:cs typeface="Calibri" pitchFamily="34" charset="-120"/>
              </a:rPr>
              <a:t>sealed data  →  the original paper</a:t>
            </a:r>
            <a:endParaRPr lang="en-US" sz="1000" dirty="0"/>
          </a:p>
        </p:txBody>
      </p:sp>
      <p:sp>
        <p:nvSpPr>
          <p:cNvPr id="14" name="Text 12"/>
          <p:cNvSpPr/>
          <p:nvPr/>
        </p:nvSpPr>
        <p:spPr>
          <a:xfrm>
            <a:off x="5989320" y="2103120"/>
            <a:ext cx="5669280" cy="1188720"/>
          </a:xfrm>
          <a:prstGeom prst="rect">
            <a:avLst/>
          </a:prstGeom>
          <a:noFill/>
          <a:ln/>
        </p:spPr>
        <p:txBody>
          <a:bodyPr wrap="square" lIns="0" tIns="0" rIns="0" bIns="0" rtlCol="0" anchor="t"/>
          <a:lstStyle/>
          <a:p>
            <a:pPr indent="0" marL="0">
              <a:lnSpc>
                <a:spcPct val="118000"/>
              </a:lnSpc>
              <a:buNone/>
            </a:pPr>
            <a:r>
              <a:rPr lang="en-US" sz="1700" dirty="0">
                <a:solidFill>
                  <a:srgbClr val="0F141C"/>
                </a:solidFill>
                <a:latin typeface="Cambria" pitchFamily="34" charset="0"/>
                <a:ea typeface="Cambria" pitchFamily="34" charset="-122"/>
                <a:cs typeface="Cambria" pitchFamily="34" charset="-120"/>
              </a:rPr>
              <a:t>The key is rebuilt from three pieces, the sealed data is opened, and the paper is readable for the first time since the press.</a:t>
            </a:r>
            <a:endParaRPr lang="en-US" sz="1700" dirty="0"/>
          </a:p>
        </p:txBody>
      </p:sp>
      <p:sp>
        <p:nvSpPr>
          <p:cNvPr id="15" name="Text 13"/>
          <p:cNvSpPr/>
          <p:nvPr/>
        </p:nvSpPr>
        <p:spPr>
          <a:xfrm>
            <a:off x="5989320" y="3429000"/>
            <a:ext cx="5669280" cy="1463040"/>
          </a:xfrm>
          <a:prstGeom prst="rect">
            <a:avLst/>
          </a:prstGeom>
          <a:noFill/>
          <a:ln/>
        </p:spPr>
        <p:txBody>
          <a:bodyPr wrap="square" lIns="0" tIns="0" rIns="0" bIns="0" rtlCol="0" anchor="t"/>
          <a:lstStyle/>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And we check one more thing: that the paper which came out matches the fingerprint recorded when it went in.</a:t>
            </a:r>
            <a:endParaRPr lang="en-US" sz="1300" dirty="0"/>
          </a:p>
          <a:p>
            <a:pPr indent="0" marL="0">
              <a:lnSpc>
                <a:spcPct val="122000"/>
              </a:lnSpc>
              <a:buNone/>
            </a:pPr>
            <a:endParaRPr lang="en-US" sz="1300" dirty="0"/>
          </a:p>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So it is not merely a document that opened — it is the document that was sealed.</a:t>
            </a:r>
            <a:endParaRPr lang="en-US" sz="1300" dirty="0"/>
          </a:p>
        </p:txBody>
      </p:sp>
      <p:sp>
        <p:nvSpPr>
          <p:cNvPr id="16" name="Shape 14"/>
          <p:cNvSpPr/>
          <p:nvPr/>
        </p:nvSpPr>
        <p:spPr>
          <a:xfrm>
            <a:off x="502920" y="5029200"/>
            <a:ext cx="11155680" cy="1097280"/>
          </a:xfrm>
          <a:prstGeom prst="roundRect">
            <a:avLst>
              <a:gd name="adj" fmla="val 3333"/>
            </a:avLst>
          </a:prstGeom>
          <a:solidFill>
            <a:srgbClr val="F2F4F7"/>
          </a:solidFill>
          <a:ln w="9525">
            <a:solidFill>
              <a:srgbClr val="D2D8E0"/>
            </a:solidFill>
            <a:prstDash val="solid"/>
          </a:ln>
        </p:spPr>
      </p:sp>
      <p:sp>
        <p:nvSpPr>
          <p:cNvPr id="17" name="Text 15"/>
          <p:cNvSpPr/>
          <p:nvPr/>
        </p:nvSpPr>
        <p:spPr>
          <a:xfrm>
            <a:off x="685800" y="5166360"/>
            <a:ext cx="10789920" cy="256032"/>
          </a:xfrm>
          <a:prstGeom prst="rect">
            <a:avLst/>
          </a:prstGeom>
          <a:noFill/>
          <a:ln/>
        </p:spPr>
        <p:txBody>
          <a:bodyPr wrap="square" lIns="0" tIns="0" rIns="0" bIns="0" rtlCol="0" anchor="ctr"/>
          <a:lstStyle/>
          <a:p>
            <a:pPr indent="0" marL="0">
              <a:buNone/>
            </a:pPr>
            <a:r>
              <a:rPr lang="en-US" sz="1300" b="1" dirty="0">
                <a:solidFill>
                  <a:srgbClr val="0F141C"/>
                </a:solidFill>
                <a:latin typeface="Calibri" pitchFamily="34" charset="0"/>
                <a:ea typeface="Calibri" pitchFamily="34" charset="-122"/>
                <a:cs typeface="Calibri" pitchFamily="34" charset="-120"/>
              </a:rPr>
              <a:t>Nothing decrypts before this point</a:t>
            </a:r>
            <a:endParaRPr lang="en-US" sz="1300" dirty="0"/>
          </a:p>
        </p:txBody>
      </p:sp>
      <p:sp>
        <p:nvSpPr>
          <p:cNvPr id="18" name="Text 16"/>
          <p:cNvSpPr/>
          <p:nvPr/>
        </p:nvSpPr>
        <p:spPr>
          <a:xfrm>
            <a:off x="685800" y="5449824"/>
            <a:ext cx="10789920" cy="530352"/>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The three pieces can be present, the key can be rebuildable, and the paper still stays sealed until the engine has answered yes. Reconstruction and authorisation are separate steps on purpose.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14</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WHEN IT GOES WRONG</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A refusal is the most important record we keep.</a:t>
            </a:r>
            <a:endParaRPr lang="en-US" sz="3000" dirty="0"/>
          </a:p>
        </p:txBody>
      </p:sp>
      <p:sp>
        <p:nvSpPr>
          <p:cNvPr id="6" name="Text 4"/>
          <p:cNvSpPr/>
          <p:nvPr/>
        </p:nvSpPr>
        <p:spPr>
          <a:xfrm>
            <a:off x="502920" y="1965960"/>
            <a:ext cx="5577840" cy="1325880"/>
          </a:xfrm>
          <a:prstGeom prst="rect">
            <a:avLst/>
          </a:prstGeom>
          <a:noFill/>
          <a:ln/>
        </p:spPr>
        <p:txBody>
          <a:bodyPr wrap="square" lIns="0" tIns="0" rIns="0" bIns="0" rtlCol="0" anchor="t"/>
          <a:lstStyle/>
          <a:p>
            <a:pPr indent="0" marL="0">
              <a:lnSpc>
                <a:spcPct val="118000"/>
              </a:lnSpc>
              <a:buNone/>
            </a:pPr>
            <a:r>
              <a:rPr lang="en-US" sz="1700" dirty="0">
                <a:solidFill>
                  <a:srgbClr val="0F141C"/>
                </a:solidFill>
                <a:latin typeface="Cambria" pitchFamily="34" charset="0"/>
                <a:ea typeface="Cambria" pitchFamily="34" charset="-122"/>
                <a:cs typeface="Cambria" pitchFamily="34" charset="-120"/>
              </a:rPr>
              <a:t>Wrong key, wrong person, wrong place, wrong hour — the attempt is refused, the buzzer sounds, and a photograph is taken of whoever is standing at the terminal.</a:t>
            </a:r>
            <a:endParaRPr lang="en-US" sz="1700" dirty="0"/>
          </a:p>
        </p:txBody>
      </p:sp>
      <p:sp>
        <p:nvSpPr>
          <p:cNvPr id="7" name="Text 5"/>
          <p:cNvSpPr/>
          <p:nvPr/>
        </p:nvSpPr>
        <p:spPr>
          <a:xfrm>
            <a:off x="502920" y="3429000"/>
            <a:ext cx="5577840" cy="777240"/>
          </a:xfrm>
          <a:prstGeom prst="rect">
            <a:avLst/>
          </a:prstGeom>
          <a:noFill/>
          <a:ln/>
        </p:spPr>
        <p:txBody>
          <a:bodyPr wrap="square" lIns="0" tIns="0" rIns="0" bIns="0" rtlCol="0" anchor="t"/>
          <a:lstStyle/>
          <a:p>
            <a:pPr indent="0" marL="0">
              <a:lnSpc>
                <a:spcPct val="122000"/>
              </a:lnSpc>
              <a:buNone/>
            </a:pPr>
            <a:r>
              <a:rPr lang="en-US" sz="1300" dirty="0">
                <a:solidFill>
                  <a:srgbClr val="3C4756"/>
                </a:solidFill>
                <a:latin typeface="Calibri" pitchFamily="34" charset="0"/>
                <a:ea typeface="Calibri" pitchFamily="34" charset="-122"/>
                <a:cs typeface="Calibri" pitchFamily="34" charset="-120"/>
              </a:rPr>
              <a:t>It appears in the control room immediately, on its own page, with the exact reason and the photograph’s fingerprint committed to the chain.</a:t>
            </a:r>
            <a:endParaRPr lang="en-US" sz="1300" dirty="0"/>
          </a:p>
        </p:txBody>
      </p:sp>
      <p:sp>
        <p:nvSpPr>
          <p:cNvPr id="8" name="Shape 6"/>
          <p:cNvSpPr/>
          <p:nvPr/>
        </p:nvSpPr>
        <p:spPr>
          <a:xfrm>
            <a:off x="502920" y="4343400"/>
            <a:ext cx="5577840" cy="1463040"/>
          </a:xfrm>
          <a:prstGeom prst="roundRect">
            <a:avLst>
              <a:gd name="adj" fmla="val 2500"/>
            </a:avLst>
          </a:prstGeom>
          <a:solidFill>
            <a:srgbClr val="F2ECFA"/>
          </a:solidFill>
          <a:ln w="9525">
            <a:solidFill>
              <a:srgbClr val="C0A8DC"/>
            </a:solidFill>
            <a:prstDash val="solid"/>
          </a:ln>
        </p:spPr>
      </p:sp>
      <p:sp>
        <p:nvSpPr>
          <p:cNvPr id="9" name="Text 7"/>
          <p:cNvSpPr/>
          <p:nvPr/>
        </p:nvSpPr>
        <p:spPr>
          <a:xfrm>
            <a:off x="704088" y="4462272"/>
            <a:ext cx="5175504" cy="182880"/>
          </a:xfrm>
          <a:prstGeom prst="rect">
            <a:avLst/>
          </a:prstGeom>
          <a:noFill/>
          <a:ln/>
        </p:spPr>
        <p:txBody>
          <a:bodyPr wrap="square" lIns="0" tIns="0" rIns="0" bIns="0" rtlCol="0" anchor="ctr"/>
          <a:lstStyle/>
          <a:p>
            <a:pPr indent="0" marL="0">
              <a:buNone/>
            </a:pPr>
            <a:r>
              <a:rPr lang="en-US" sz="800" spc="150" kern="0" dirty="0">
                <a:solidFill>
                  <a:srgbClr val="5B3490"/>
                </a:solidFill>
                <a:latin typeface="Courier New" pitchFamily="34" charset="0"/>
                <a:ea typeface="Courier New" pitchFamily="34" charset="-122"/>
                <a:cs typeface="Courier New" pitchFamily="34" charset="-120"/>
              </a:rPr>
              <a:t>THE TECHNICAL NAME</a:t>
            </a:r>
            <a:endParaRPr lang="en-US" sz="800" dirty="0"/>
          </a:p>
        </p:txBody>
      </p:sp>
      <p:sp>
        <p:nvSpPr>
          <p:cNvPr id="10" name="Text 8"/>
          <p:cNvSpPr/>
          <p:nvPr/>
        </p:nvSpPr>
        <p:spPr>
          <a:xfrm>
            <a:off x="704088" y="4654296"/>
            <a:ext cx="5175504" cy="228600"/>
          </a:xfrm>
          <a:prstGeom prst="rect">
            <a:avLst/>
          </a:prstGeom>
          <a:noFill/>
          <a:ln/>
        </p:spPr>
        <p:txBody>
          <a:bodyPr wrap="square" lIns="0" tIns="0" rIns="0" bIns="0" rtlCol="0" anchor="ctr"/>
          <a:lstStyle/>
          <a:p>
            <a:pPr indent="0" marL="0">
              <a:buNone/>
            </a:pPr>
            <a:r>
              <a:rPr lang="en-US" sz="1200" b="1" dirty="0">
                <a:solidFill>
                  <a:srgbClr val="0F141C"/>
                </a:solidFill>
                <a:latin typeface="Courier New" pitchFamily="34" charset="0"/>
                <a:ea typeface="Courier New" pitchFamily="34" charset="-122"/>
                <a:cs typeface="Courier New" pitchFamily="34" charset="-120"/>
              </a:rPr>
              <a:t>Server-Sent Events</a:t>
            </a:r>
            <a:endParaRPr lang="en-US" sz="1200" dirty="0"/>
          </a:p>
        </p:txBody>
      </p:sp>
      <p:sp>
        <p:nvSpPr>
          <p:cNvPr id="11" name="Text 9"/>
          <p:cNvSpPr/>
          <p:nvPr/>
        </p:nvSpPr>
        <p:spPr>
          <a:xfrm>
            <a:off x="704088" y="4910328"/>
            <a:ext cx="5175504" cy="749808"/>
          </a:xfrm>
          <a:prstGeom prst="rect">
            <a:avLst/>
          </a:prstGeom>
          <a:noFill/>
          <a:ln/>
        </p:spPr>
        <p:txBody>
          <a:bodyPr wrap="square" lIns="0" tIns="0" rIns="0" bIns="0" rtlCol="0" anchor="t"/>
          <a:lstStyle/>
          <a:p>
            <a:pPr indent="0" marL="0">
              <a:lnSpc>
                <a:spcPct val="118000"/>
              </a:lnSpc>
              <a:buNone/>
            </a:pPr>
            <a:r>
              <a:rPr lang="en-US" sz="1100" dirty="0">
                <a:solidFill>
                  <a:srgbClr val="3C4756"/>
                </a:solidFill>
                <a:latin typeface="Calibri" pitchFamily="34" charset="0"/>
                <a:ea typeface="Calibri" pitchFamily="34" charset="-122"/>
                <a:cs typeface="Calibri" pitchFamily="34" charset="-120"/>
              </a:rPr>
              <a:t>A one-way live feed from the server to the screen. We chose it over a two-way connection because the screen only ever listens — and this way it reconnects by itself when the network drops.</a:t>
            </a:r>
            <a:endParaRPr lang="en-US" sz="1100" dirty="0"/>
          </a:p>
        </p:txBody>
      </p:sp>
      <p:sp>
        <p:nvSpPr>
          <p:cNvPr id="12" name="Shape 10"/>
          <p:cNvSpPr/>
          <p:nvPr/>
        </p:nvSpPr>
        <p:spPr>
          <a:xfrm>
            <a:off x="6720840" y="2148840"/>
            <a:ext cx="4160520" cy="566928"/>
          </a:xfrm>
          <a:prstGeom prst="roundRect">
            <a:avLst>
              <a:gd name="adj" fmla="val 6452"/>
            </a:avLst>
          </a:prstGeom>
          <a:solidFill>
            <a:srgbClr val="FAEDEB"/>
          </a:solidFill>
          <a:ln w="9525">
            <a:solidFill>
              <a:srgbClr val="9E2B24"/>
            </a:solidFill>
            <a:prstDash val="solid"/>
          </a:ln>
        </p:spPr>
      </p:sp>
      <p:sp>
        <p:nvSpPr>
          <p:cNvPr id="13" name="Text 11"/>
          <p:cNvSpPr/>
          <p:nvPr/>
        </p:nvSpPr>
        <p:spPr>
          <a:xfrm>
            <a:off x="6720840" y="2148840"/>
            <a:ext cx="4160520" cy="566928"/>
          </a:xfrm>
          <a:prstGeom prst="rect">
            <a:avLst/>
          </a:prstGeom>
          <a:noFill/>
          <a:ln/>
        </p:spPr>
        <p:txBody>
          <a:bodyPr wrap="square" lIns="0" tIns="0" rIns="0" bIns="0" rtlCol="0" anchor="ctr"/>
          <a:lstStyle/>
          <a:p>
            <a:pPr algn="ctr" indent="0" marL="0">
              <a:buNone/>
            </a:pPr>
            <a:r>
              <a:rPr lang="en-US" sz="1000" dirty="0">
                <a:solidFill>
                  <a:srgbClr val="9E2B24"/>
                </a:solidFill>
                <a:latin typeface="Calibri" pitchFamily="34" charset="0"/>
                <a:ea typeface="Calibri" pitchFamily="34" charset="-122"/>
                <a:cs typeface="Calibri" pitchFamily="34" charset="-120"/>
              </a:rPr>
              <a:t>refused  →  buzzer</a:t>
            </a:r>
            <a:endParaRPr lang="en-US" sz="1000" dirty="0"/>
          </a:p>
        </p:txBody>
      </p:sp>
      <p:sp>
        <p:nvSpPr>
          <p:cNvPr id="14" name="Text 12"/>
          <p:cNvSpPr/>
          <p:nvPr/>
        </p:nvSpPr>
        <p:spPr>
          <a:xfrm>
            <a:off x="6720840" y="2715768"/>
            <a:ext cx="4160520" cy="365760"/>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6720840" y="3081528"/>
            <a:ext cx="4160520" cy="566928"/>
          </a:xfrm>
          <a:prstGeom prst="roundRect">
            <a:avLst>
              <a:gd name="adj" fmla="val 6452"/>
            </a:avLst>
          </a:prstGeom>
          <a:solidFill>
            <a:srgbClr val="F2ECFA"/>
          </a:solidFill>
          <a:ln w="9525">
            <a:solidFill>
              <a:srgbClr val="C0A8DC"/>
            </a:solidFill>
            <a:prstDash val="solid"/>
          </a:ln>
        </p:spPr>
      </p:sp>
      <p:sp>
        <p:nvSpPr>
          <p:cNvPr id="16" name="Text 14"/>
          <p:cNvSpPr/>
          <p:nvPr/>
        </p:nvSpPr>
        <p:spPr>
          <a:xfrm>
            <a:off x="6720840" y="3081528"/>
            <a:ext cx="4160520" cy="566928"/>
          </a:xfrm>
          <a:prstGeom prst="rect">
            <a:avLst/>
          </a:prstGeom>
          <a:noFill/>
          <a:ln/>
        </p:spPr>
        <p:txBody>
          <a:bodyPr wrap="square" lIns="0" tIns="0" rIns="0" bIns="0" rtlCol="0" anchor="ctr"/>
          <a:lstStyle/>
          <a:p>
            <a:pPr algn="ctr" indent="0" marL="0">
              <a:buNone/>
            </a:pPr>
            <a:r>
              <a:rPr lang="en-US" sz="1000" dirty="0">
                <a:solidFill>
                  <a:srgbClr val="5B3490"/>
                </a:solidFill>
                <a:latin typeface="Courier New" pitchFamily="34" charset="0"/>
                <a:ea typeface="Courier New" pitchFamily="34" charset="-122"/>
                <a:cs typeface="Courier New" pitchFamily="34" charset="-120"/>
              </a:rPr>
              <a:t>photograph taken</a:t>
            </a:r>
            <a:endParaRPr lang="en-US" sz="1000" dirty="0"/>
          </a:p>
        </p:txBody>
      </p:sp>
      <p:sp>
        <p:nvSpPr>
          <p:cNvPr id="17" name="Text 15"/>
          <p:cNvSpPr/>
          <p:nvPr/>
        </p:nvSpPr>
        <p:spPr>
          <a:xfrm>
            <a:off x="6720840" y="3648456"/>
            <a:ext cx="4160520" cy="365760"/>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18" name="Shape 16"/>
          <p:cNvSpPr/>
          <p:nvPr/>
        </p:nvSpPr>
        <p:spPr>
          <a:xfrm>
            <a:off x="6720840" y="4014216"/>
            <a:ext cx="4160520" cy="566928"/>
          </a:xfrm>
          <a:prstGeom prst="roundRect">
            <a:avLst>
              <a:gd name="adj" fmla="val 6452"/>
            </a:avLst>
          </a:prstGeom>
          <a:solidFill>
            <a:srgbClr val="F2ECFA"/>
          </a:solidFill>
          <a:ln w="9525">
            <a:solidFill>
              <a:srgbClr val="C0A8DC"/>
            </a:solidFill>
            <a:prstDash val="solid"/>
          </a:ln>
        </p:spPr>
      </p:sp>
      <p:sp>
        <p:nvSpPr>
          <p:cNvPr id="19" name="Text 17"/>
          <p:cNvSpPr/>
          <p:nvPr/>
        </p:nvSpPr>
        <p:spPr>
          <a:xfrm>
            <a:off x="6720840" y="4014216"/>
            <a:ext cx="4160520" cy="566928"/>
          </a:xfrm>
          <a:prstGeom prst="rect">
            <a:avLst/>
          </a:prstGeom>
          <a:noFill/>
          <a:ln/>
        </p:spPr>
        <p:txBody>
          <a:bodyPr wrap="square" lIns="0" tIns="0" rIns="0" bIns="0" rtlCol="0" anchor="ctr"/>
          <a:lstStyle/>
          <a:p>
            <a:pPr algn="ctr" indent="0" marL="0">
              <a:buNone/>
            </a:pPr>
            <a:r>
              <a:rPr lang="en-US" sz="1000" dirty="0">
                <a:solidFill>
                  <a:srgbClr val="5B3490"/>
                </a:solidFill>
                <a:latin typeface="Calibri" pitchFamily="34" charset="0"/>
                <a:ea typeface="Calibri" pitchFamily="34" charset="-122"/>
                <a:cs typeface="Calibri" pitchFamily="34" charset="-120"/>
              </a:rPr>
              <a:t>fingerprint of the photo → chain</a:t>
            </a:r>
            <a:endParaRPr lang="en-US" sz="1000" dirty="0"/>
          </a:p>
        </p:txBody>
      </p:sp>
      <p:sp>
        <p:nvSpPr>
          <p:cNvPr id="20" name="Text 18"/>
          <p:cNvSpPr/>
          <p:nvPr/>
        </p:nvSpPr>
        <p:spPr>
          <a:xfrm>
            <a:off x="6720840" y="4581144"/>
            <a:ext cx="4160520" cy="365760"/>
          </a:xfrm>
          <a:prstGeom prst="rect">
            <a:avLst/>
          </a:prstGeom>
          <a:noFill/>
          <a:ln/>
        </p:spPr>
        <p:txBody>
          <a:bodyPr wrap="square" lIns="0" tIns="0" rIns="0" bIns="0" rtlCol="0" anchor="ctr"/>
          <a:lstStyle/>
          <a:p>
            <a:pPr algn="ctr" indent="0" marL="0">
              <a:buNone/>
            </a:pPr>
            <a:r>
              <a:rPr lang="en-US" sz="1500" dirty="0">
                <a:solidFill>
                  <a:srgbClr val="6B7684"/>
                </a:solidFill>
                <a:latin typeface="Calibri" pitchFamily="34" charset="0"/>
                <a:ea typeface="Calibri" pitchFamily="34" charset="-122"/>
                <a:cs typeface="Calibri" pitchFamily="34" charset="-120"/>
              </a:rPr>
              <a:t>↓</a:t>
            </a:r>
            <a:endParaRPr lang="en-US" sz="1500" dirty="0"/>
          </a:p>
        </p:txBody>
      </p:sp>
      <p:sp>
        <p:nvSpPr>
          <p:cNvPr id="21" name="Shape 19"/>
          <p:cNvSpPr/>
          <p:nvPr/>
        </p:nvSpPr>
        <p:spPr>
          <a:xfrm>
            <a:off x="6720840" y="4946904"/>
            <a:ext cx="4160520" cy="566928"/>
          </a:xfrm>
          <a:prstGeom prst="roundRect">
            <a:avLst>
              <a:gd name="adj" fmla="val 6452"/>
            </a:avLst>
          </a:prstGeom>
          <a:solidFill>
            <a:srgbClr val="E8F2ED"/>
          </a:solidFill>
          <a:ln w="9525">
            <a:solidFill>
              <a:srgbClr val="24604A"/>
            </a:solidFill>
            <a:prstDash val="solid"/>
          </a:ln>
        </p:spPr>
      </p:sp>
      <p:sp>
        <p:nvSpPr>
          <p:cNvPr id="22" name="Text 20"/>
          <p:cNvSpPr/>
          <p:nvPr/>
        </p:nvSpPr>
        <p:spPr>
          <a:xfrm>
            <a:off x="6720840" y="4946904"/>
            <a:ext cx="4160520" cy="566928"/>
          </a:xfrm>
          <a:prstGeom prst="rect">
            <a:avLst/>
          </a:prstGeom>
          <a:noFill/>
          <a:ln/>
        </p:spPr>
        <p:txBody>
          <a:bodyPr wrap="square" lIns="0" tIns="0" rIns="0" bIns="0" rtlCol="0" anchor="ctr"/>
          <a:lstStyle/>
          <a:p>
            <a:pPr algn="ctr" indent="0" marL="0">
              <a:buNone/>
            </a:pPr>
            <a:r>
              <a:rPr lang="en-US" sz="1000" dirty="0">
                <a:solidFill>
                  <a:srgbClr val="24604A"/>
                </a:solidFill>
                <a:latin typeface="Courier New" pitchFamily="34" charset="0"/>
                <a:ea typeface="Courier New" pitchFamily="34" charset="-122"/>
                <a:cs typeface="Courier New" pitchFamily="34" charset="-120"/>
              </a:rPr>
              <a:t>control room, live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A24"/>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241C36"/>
          </a:solidFill>
          <a:ln w="9525">
            <a:solidFill>
              <a:srgbClr val="4A3A68"/>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B79BE0"/>
                </a:solidFill>
                <a:latin typeface="Courier New" pitchFamily="34" charset="0"/>
                <a:ea typeface="Courier New" pitchFamily="34" charset="-122"/>
                <a:cs typeface="Courier New" pitchFamily="34" charset="-120"/>
              </a:rPr>
              <a:t>15</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B79BE0"/>
                </a:solidFill>
                <a:latin typeface="Courier New" pitchFamily="34" charset="0"/>
                <a:ea typeface="Courier New" pitchFamily="34" charset="-122"/>
                <a:cs typeface="Courier New" pitchFamily="34" charset="-120"/>
              </a:rPr>
              <a:t>THE LIMITS</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E8ECF2"/>
                </a:solidFill>
                <a:latin typeface="Cambria" pitchFamily="34" charset="0"/>
                <a:ea typeface="Cambria" pitchFamily="34" charset="-122"/>
                <a:cs typeface="Cambria" pitchFamily="34" charset="-120"/>
              </a:rPr>
              <a:t>What this cannot do.</a:t>
            </a:r>
            <a:endParaRPr lang="en-US" sz="3000" dirty="0"/>
          </a:p>
        </p:txBody>
      </p:sp>
      <p:sp>
        <p:nvSpPr>
          <p:cNvPr id="6" name="Text 4"/>
          <p:cNvSpPr/>
          <p:nvPr/>
        </p:nvSpPr>
        <p:spPr>
          <a:xfrm>
            <a:off x="502920" y="1965960"/>
            <a:ext cx="5486400" cy="1234440"/>
          </a:xfrm>
          <a:prstGeom prst="rect">
            <a:avLst/>
          </a:prstGeom>
          <a:noFill/>
          <a:ln/>
        </p:spPr>
        <p:txBody>
          <a:bodyPr wrap="square" lIns="0" tIns="0" rIns="0" bIns="0" rtlCol="0" anchor="t"/>
          <a:lstStyle/>
          <a:p>
            <a:pPr indent="0" marL="0">
              <a:lnSpc>
                <a:spcPct val="118000"/>
              </a:lnSpc>
              <a:buNone/>
            </a:pPr>
            <a:r>
              <a:rPr lang="en-US" sz="1800" dirty="0">
                <a:solidFill>
                  <a:srgbClr val="E8ECF2"/>
                </a:solidFill>
                <a:latin typeface="Cambria" pitchFamily="34" charset="0"/>
                <a:ea typeface="Cambria" pitchFamily="34" charset="-122"/>
                <a:cs typeface="Cambria" pitchFamily="34" charset="-120"/>
              </a:rPr>
              <a:t>If a person reads the paper and memorises it, no custody system on earth will stop that — and ours doesn’t claim to.</a:t>
            </a:r>
            <a:endParaRPr lang="en-US" sz="1800" dirty="0"/>
          </a:p>
        </p:txBody>
      </p:sp>
      <p:sp>
        <p:nvSpPr>
          <p:cNvPr id="7" name="Text 5"/>
          <p:cNvSpPr/>
          <p:nvPr/>
        </p:nvSpPr>
        <p:spPr>
          <a:xfrm>
            <a:off x="502920" y="3337560"/>
            <a:ext cx="5486400" cy="1005840"/>
          </a:xfrm>
          <a:prstGeom prst="rect">
            <a:avLst/>
          </a:prstGeom>
          <a:noFill/>
          <a:ln/>
        </p:spPr>
        <p:txBody>
          <a:bodyPr wrap="square" lIns="0" tIns="0" rIns="0" bIns="0" rtlCol="0" anchor="t"/>
          <a:lstStyle/>
          <a:p>
            <a:pPr indent="0" marL="0">
              <a:lnSpc>
                <a:spcPct val="122000"/>
              </a:lnSpc>
              <a:buNone/>
            </a:pPr>
            <a:r>
              <a:rPr lang="en-US" sz="1300" dirty="0">
                <a:solidFill>
                  <a:srgbClr val="A5B0BF"/>
                </a:solidFill>
                <a:latin typeface="Calibri" pitchFamily="34" charset="0"/>
                <a:ea typeface="Calibri" pitchFamily="34" charset="-122"/>
                <a:cs typeface="Calibri" pitchFamily="34" charset="-120"/>
              </a:rPr>
              <a:t>What we can do is narrow it: fewer people see the paper, for less time, and if it leaks the investigation starts with two named people instead of five hundred.</a:t>
            </a:r>
            <a:endParaRPr lang="en-US" sz="1300" dirty="0"/>
          </a:p>
        </p:txBody>
      </p:sp>
      <p:sp>
        <p:nvSpPr>
          <p:cNvPr id="8" name="Shape 6"/>
          <p:cNvSpPr/>
          <p:nvPr/>
        </p:nvSpPr>
        <p:spPr>
          <a:xfrm>
            <a:off x="6446520" y="1965960"/>
            <a:ext cx="5212080" cy="1097280"/>
          </a:xfrm>
          <a:prstGeom prst="roundRect">
            <a:avLst>
              <a:gd name="adj" fmla="val 3333"/>
            </a:avLst>
          </a:prstGeom>
          <a:solidFill>
            <a:srgbClr val="1B2330"/>
          </a:solidFill>
          <a:ln w="9525">
            <a:solidFill>
              <a:srgbClr val="323C4C"/>
            </a:solidFill>
            <a:prstDash val="solid"/>
          </a:ln>
        </p:spPr>
      </p:sp>
      <p:sp>
        <p:nvSpPr>
          <p:cNvPr id="9" name="Text 7"/>
          <p:cNvSpPr/>
          <p:nvPr/>
        </p:nvSpPr>
        <p:spPr>
          <a:xfrm>
            <a:off x="6629400" y="2075688"/>
            <a:ext cx="4846320" cy="256032"/>
          </a:xfrm>
          <a:prstGeom prst="rect">
            <a:avLst/>
          </a:prstGeom>
          <a:noFill/>
          <a:ln/>
        </p:spPr>
        <p:txBody>
          <a:bodyPr wrap="square" lIns="0" tIns="0" rIns="0" bIns="0" rtlCol="0" anchor="ctr"/>
          <a:lstStyle/>
          <a:p>
            <a:pPr indent="0" marL="0">
              <a:buNone/>
            </a:pPr>
            <a:r>
              <a:rPr lang="en-US" sz="1300" b="1" dirty="0">
                <a:solidFill>
                  <a:srgbClr val="B79BE0"/>
                </a:solidFill>
                <a:latin typeface="Calibri" pitchFamily="34" charset="0"/>
                <a:ea typeface="Calibri" pitchFamily="34" charset="-122"/>
                <a:cs typeface="Calibri" pitchFamily="34" charset="-120"/>
              </a:rPr>
              <a:t>Built and demonstrable</a:t>
            </a:r>
            <a:endParaRPr lang="en-US" sz="1300" dirty="0"/>
          </a:p>
        </p:txBody>
      </p:sp>
      <p:sp>
        <p:nvSpPr>
          <p:cNvPr id="10" name="Text 8"/>
          <p:cNvSpPr/>
          <p:nvPr/>
        </p:nvSpPr>
        <p:spPr>
          <a:xfrm>
            <a:off x="6629400" y="2350008"/>
            <a:ext cx="4846320" cy="621792"/>
          </a:xfrm>
          <a:prstGeom prst="rect">
            <a:avLst/>
          </a:prstGeom>
          <a:noFill/>
          <a:ln/>
        </p:spPr>
        <p:txBody>
          <a:bodyPr wrap="square" lIns="0" tIns="0" rIns="0" bIns="0" rtlCol="0" anchor="t"/>
          <a:lstStyle/>
          <a:p>
            <a:pPr indent="0" marL="0">
              <a:lnSpc>
                <a:spcPct val="115000"/>
              </a:lnSpc>
              <a:buNone/>
            </a:pPr>
            <a:r>
              <a:rPr lang="en-US" sz="1100" dirty="0">
                <a:solidFill>
                  <a:srgbClr val="A5B0BF"/>
                </a:solidFill>
                <a:latin typeface="Calibri" pitchFamily="34" charset="0"/>
                <a:ea typeface="Calibri" pitchFamily="34" charset="-122"/>
                <a:cs typeface="Calibri" pitchFamily="34" charset="-120"/>
              </a:rPr>
              <a:t>Encryption, key splitting, signatures, the chain, the 21 checks, the fingerprint ceremony, the live control room.</a:t>
            </a:r>
            <a:endParaRPr lang="en-US" sz="1100" dirty="0"/>
          </a:p>
        </p:txBody>
      </p:sp>
      <p:sp>
        <p:nvSpPr>
          <p:cNvPr id="11" name="Shape 9"/>
          <p:cNvSpPr/>
          <p:nvPr/>
        </p:nvSpPr>
        <p:spPr>
          <a:xfrm>
            <a:off x="6446520" y="3200400"/>
            <a:ext cx="5212080" cy="1097280"/>
          </a:xfrm>
          <a:prstGeom prst="roundRect">
            <a:avLst>
              <a:gd name="adj" fmla="val 3333"/>
            </a:avLst>
          </a:prstGeom>
          <a:solidFill>
            <a:srgbClr val="1B2330"/>
          </a:solidFill>
          <a:ln w="9525">
            <a:solidFill>
              <a:srgbClr val="323C4C"/>
            </a:solidFill>
            <a:prstDash val="solid"/>
          </a:ln>
        </p:spPr>
      </p:sp>
      <p:sp>
        <p:nvSpPr>
          <p:cNvPr id="12" name="Text 10"/>
          <p:cNvSpPr/>
          <p:nvPr/>
        </p:nvSpPr>
        <p:spPr>
          <a:xfrm>
            <a:off x="6629400" y="3310128"/>
            <a:ext cx="4846320" cy="256032"/>
          </a:xfrm>
          <a:prstGeom prst="rect">
            <a:avLst/>
          </a:prstGeom>
          <a:noFill/>
          <a:ln/>
        </p:spPr>
        <p:txBody>
          <a:bodyPr wrap="square" lIns="0" tIns="0" rIns="0" bIns="0" rtlCol="0" anchor="ctr"/>
          <a:lstStyle/>
          <a:p>
            <a:pPr indent="0" marL="0">
              <a:buNone/>
            </a:pPr>
            <a:r>
              <a:rPr lang="en-US" sz="1300" b="1" dirty="0">
                <a:solidFill>
                  <a:srgbClr val="B79BE0"/>
                </a:solidFill>
                <a:latin typeface="Calibri" pitchFamily="34" charset="0"/>
                <a:ea typeface="Calibri" pitchFamily="34" charset="-122"/>
                <a:cs typeface="Calibri" pitchFamily="34" charset="-120"/>
              </a:rPr>
              <a:t>Designed, not yet built</a:t>
            </a:r>
            <a:endParaRPr lang="en-US" sz="1300" dirty="0"/>
          </a:p>
        </p:txBody>
      </p:sp>
      <p:sp>
        <p:nvSpPr>
          <p:cNvPr id="13" name="Text 11"/>
          <p:cNvSpPr/>
          <p:nvPr/>
        </p:nvSpPr>
        <p:spPr>
          <a:xfrm>
            <a:off x="6629400" y="3584448"/>
            <a:ext cx="4846320" cy="621792"/>
          </a:xfrm>
          <a:prstGeom prst="rect">
            <a:avLst/>
          </a:prstGeom>
          <a:noFill/>
          <a:ln/>
        </p:spPr>
        <p:txBody>
          <a:bodyPr wrap="square" lIns="0" tIns="0" rIns="0" bIns="0" rtlCol="0" anchor="t"/>
          <a:lstStyle/>
          <a:p>
            <a:pPr indent="0" marL="0">
              <a:lnSpc>
                <a:spcPct val="115000"/>
              </a:lnSpc>
              <a:buNone/>
            </a:pPr>
            <a:r>
              <a:rPr lang="en-US" sz="1100" dirty="0">
                <a:solidFill>
                  <a:srgbClr val="A5B0BF"/>
                </a:solidFill>
                <a:latin typeface="Calibri" pitchFamily="34" charset="0"/>
                <a:ea typeface="Calibri" pitchFamily="34" charset="-122"/>
                <a:cs typeface="Calibri" pitchFamily="34" charset="-120"/>
              </a:rPr>
              <a:t>Hardware attestation of devices, external timestamping of the daily summary, the seal-lock and occupancy sensors.</a:t>
            </a:r>
            <a:endParaRPr lang="en-US" sz="1100" dirty="0"/>
          </a:p>
        </p:txBody>
      </p:sp>
      <p:sp>
        <p:nvSpPr>
          <p:cNvPr id="14" name="Shape 12"/>
          <p:cNvSpPr/>
          <p:nvPr/>
        </p:nvSpPr>
        <p:spPr>
          <a:xfrm>
            <a:off x="6446520" y="4434840"/>
            <a:ext cx="5212080" cy="1097280"/>
          </a:xfrm>
          <a:prstGeom prst="roundRect">
            <a:avLst>
              <a:gd name="adj" fmla="val 3333"/>
            </a:avLst>
          </a:prstGeom>
          <a:solidFill>
            <a:srgbClr val="1B2330"/>
          </a:solidFill>
          <a:ln w="9525">
            <a:solidFill>
              <a:srgbClr val="323C4C"/>
            </a:solidFill>
            <a:prstDash val="solid"/>
          </a:ln>
        </p:spPr>
      </p:sp>
      <p:sp>
        <p:nvSpPr>
          <p:cNvPr id="15" name="Text 13"/>
          <p:cNvSpPr/>
          <p:nvPr/>
        </p:nvSpPr>
        <p:spPr>
          <a:xfrm>
            <a:off x="6629400" y="4544568"/>
            <a:ext cx="4846320" cy="256032"/>
          </a:xfrm>
          <a:prstGeom prst="rect">
            <a:avLst/>
          </a:prstGeom>
          <a:noFill/>
          <a:ln/>
        </p:spPr>
        <p:txBody>
          <a:bodyPr wrap="square" lIns="0" tIns="0" rIns="0" bIns="0" rtlCol="0" anchor="ctr"/>
          <a:lstStyle/>
          <a:p>
            <a:pPr indent="0" marL="0">
              <a:buNone/>
            </a:pPr>
            <a:r>
              <a:rPr lang="en-US" sz="1300" b="1" dirty="0">
                <a:solidFill>
                  <a:srgbClr val="B79BE0"/>
                </a:solidFill>
                <a:latin typeface="Calibri" pitchFamily="34" charset="0"/>
                <a:ea typeface="Calibri" pitchFamily="34" charset="-122"/>
                <a:cs typeface="Calibri" pitchFamily="34" charset="-120"/>
              </a:rPr>
              <a:t>Simulated on the bench</a:t>
            </a:r>
            <a:endParaRPr lang="en-US" sz="1300" dirty="0"/>
          </a:p>
        </p:txBody>
      </p:sp>
      <p:sp>
        <p:nvSpPr>
          <p:cNvPr id="16" name="Text 14"/>
          <p:cNvSpPr/>
          <p:nvPr/>
        </p:nvSpPr>
        <p:spPr>
          <a:xfrm>
            <a:off x="6629400" y="4818888"/>
            <a:ext cx="4846320" cy="621792"/>
          </a:xfrm>
          <a:prstGeom prst="rect">
            <a:avLst/>
          </a:prstGeom>
          <a:noFill/>
          <a:ln/>
        </p:spPr>
        <p:txBody>
          <a:bodyPr wrap="square" lIns="0" tIns="0" rIns="0" bIns="0" rtlCol="0" anchor="t"/>
          <a:lstStyle/>
          <a:p>
            <a:pPr indent="0" marL="0">
              <a:lnSpc>
                <a:spcPct val="115000"/>
              </a:lnSpc>
              <a:buNone/>
            </a:pPr>
            <a:r>
              <a:rPr lang="en-US" sz="1100" dirty="0">
                <a:solidFill>
                  <a:srgbClr val="A5B0BF"/>
                </a:solidFill>
                <a:latin typeface="Calibri" pitchFamily="34" charset="0"/>
                <a:ea typeface="Calibri" pitchFamily="34" charset="-122"/>
                <a:cs typeface="Calibri" pitchFamily="34" charset="-120"/>
              </a:rPr>
              <a:t>Where a sensor isn’t fitted the screen says so. Nothing is shown as passing that we could not measure.</a:t>
            </a:r>
            <a:endParaRPr lang="en-US" sz="1100" dirty="0"/>
          </a:p>
        </p:txBody>
      </p:sp>
      <p:sp>
        <p:nvSpPr>
          <p:cNvPr id="17" name="Text 15"/>
          <p:cNvSpPr/>
          <p:nvPr/>
        </p:nvSpPr>
        <p:spPr>
          <a:xfrm>
            <a:off x="502920" y="4709160"/>
            <a:ext cx="5486400" cy="1097280"/>
          </a:xfrm>
          <a:prstGeom prst="rect">
            <a:avLst/>
          </a:prstGeom>
          <a:noFill/>
          <a:ln/>
        </p:spPr>
        <p:txBody>
          <a:bodyPr wrap="square" lIns="0" tIns="0" rIns="0" bIns="0" rtlCol="0" anchor="t"/>
          <a:lstStyle/>
          <a:p>
            <a:pPr indent="0" marL="0">
              <a:lnSpc>
                <a:spcPct val="118000"/>
              </a:lnSpc>
              <a:buNone/>
            </a:pPr>
            <a:r>
              <a:rPr lang="en-US" sz="1600" i="1" dirty="0">
                <a:solidFill>
                  <a:srgbClr val="E8ECF2"/>
                </a:solidFill>
                <a:latin typeface="Cambria" pitchFamily="34" charset="0"/>
                <a:ea typeface="Cambria" pitchFamily="34" charset="-122"/>
                <a:cs typeface="Cambria" pitchFamily="34" charset="-120"/>
              </a:rPr>
              <a:t>We didn’t come to change how an exam board works. We came to give them a way to prove they did it correctly.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329184"/>
          </a:xfrm>
          <a:prstGeom prst="roundRect">
            <a:avLst>
              <a:gd name="adj" fmla="val 13889"/>
            </a:avLst>
          </a:prstGeom>
          <a:solidFill>
            <a:srgbClr val="F2ECFA"/>
          </a:solidFill>
          <a:ln w="9525">
            <a:solidFill>
              <a:srgbClr val="C0A8DC"/>
            </a:solidFill>
            <a:prstDash val="solid"/>
          </a:ln>
        </p:spPr>
      </p:sp>
      <p:sp>
        <p:nvSpPr>
          <p:cNvPr id="3" name="Text 1"/>
          <p:cNvSpPr/>
          <p:nvPr/>
        </p:nvSpPr>
        <p:spPr>
          <a:xfrm>
            <a:off x="502920" y="384048"/>
            <a:ext cx="566928" cy="329184"/>
          </a:xfrm>
          <a:prstGeom prst="rect">
            <a:avLst/>
          </a:prstGeom>
          <a:noFill/>
          <a:ln/>
        </p:spPr>
        <p:txBody>
          <a:bodyPr wrap="square" lIns="0" tIns="0" rIns="0" bIns="0" rtlCol="0" anchor="ctr"/>
          <a:lstStyle/>
          <a:p>
            <a:pPr algn="ctr" indent="0" marL="0">
              <a:buNone/>
            </a:pPr>
            <a:r>
              <a:rPr lang="en-US" sz="1200" b="1" dirty="0">
                <a:solidFill>
                  <a:srgbClr val="5B3490"/>
                </a:solidFill>
                <a:latin typeface="Courier New" pitchFamily="34" charset="0"/>
                <a:ea typeface="Courier New" pitchFamily="34" charset="-122"/>
                <a:cs typeface="Courier New" pitchFamily="34" charset="-120"/>
              </a:rPr>
              <a:t>—</a:t>
            </a:r>
            <a:endParaRPr lang="en-US" sz="1200" dirty="0"/>
          </a:p>
        </p:txBody>
      </p:sp>
      <p:sp>
        <p:nvSpPr>
          <p:cNvPr id="4" name="Text 2"/>
          <p:cNvSpPr/>
          <p:nvPr/>
        </p:nvSpPr>
        <p:spPr>
          <a:xfrm>
            <a:off x="1216152" y="384048"/>
            <a:ext cx="10442448" cy="329184"/>
          </a:xfrm>
          <a:prstGeom prst="rect">
            <a:avLst/>
          </a:prstGeom>
          <a:noFill/>
          <a:ln/>
        </p:spPr>
        <p:txBody>
          <a:bodyPr wrap="square" lIns="0" tIns="0" rIns="0" bIns="0" rtlCol="0" anchor="ctr"/>
          <a:lstStyle/>
          <a:p>
            <a:pPr indent="0" marL="0">
              <a:buNone/>
            </a:pPr>
            <a:r>
              <a:rPr lang="en-US" sz="1000" spc="200" kern="0" dirty="0">
                <a:solidFill>
                  <a:srgbClr val="5B3490"/>
                </a:solidFill>
                <a:latin typeface="Courier New" pitchFamily="34" charset="0"/>
                <a:ea typeface="Courier New" pitchFamily="34" charset="-122"/>
                <a:cs typeface="Courier New" pitchFamily="34" charset="-120"/>
              </a:rPr>
              <a:t>EVERY WORD, IN ONE PLACE</a:t>
            </a:r>
            <a:endParaRPr lang="en-US" sz="1000" dirty="0"/>
          </a:p>
        </p:txBody>
      </p:sp>
      <p:sp>
        <p:nvSpPr>
          <p:cNvPr id="5" name="Text 3"/>
          <p:cNvSpPr/>
          <p:nvPr/>
        </p:nvSpPr>
        <p:spPr>
          <a:xfrm>
            <a:off x="502920" y="841248"/>
            <a:ext cx="11155680" cy="868680"/>
          </a:xfrm>
          <a:prstGeom prst="rect">
            <a:avLst/>
          </a:prstGeom>
          <a:noFill/>
          <a:ln/>
        </p:spPr>
        <p:txBody>
          <a:bodyPr wrap="square" lIns="0" tIns="0" rIns="0" bIns="0" rtlCol="0" anchor="t"/>
          <a:lstStyle/>
          <a:p>
            <a:pPr indent="0" marL="0">
              <a:lnSpc>
                <a:spcPct val="100000"/>
              </a:lnSpc>
              <a:buNone/>
            </a:pPr>
            <a:r>
              <a:rPr lang="en-US" sz="3000" dirty="0">
                <a:solidFill>
                  <a:srgbClr val="0F141C"/>
                </a:solidFill>
                <a:latin typeface="Cambria" pitchFamily="34" charset="0"/>
                <a:ea typeface="Cambria" pitchFamily="34" charset="-122"/>
                <a:cs typeface="Cambria" pitchFamily="34" charset="-120"/>
              </a:rPr>
              <a:t>The vocabulary.</a:t>
            </a:r>
            <a:endParaRPr lang="en-US" sz="3000" dirty="0"/>
          </a:p>
        </p:txBody>
      </p:sp>
      <p:sp>
        <p:nvSpPr>
          <p:cNvPr id="6" name="Shape 4"/>
          <p:cNvSpPr/>
          <p:nvPr/>
        </p:nvSpPr>
        <p:spPr>
          <a:xfrm>
            <a:off x="502920" y="2404872"/>
            <a:ext cx="5440680" cy="9144"/>
          </a:xfrm>
          <a:prstGeom prst="rect">
            <a:avLst/>
          </a:prstGeom>
          <a:solidFill>
            <a:srgbClr val="D2D8E0"/>
          </a:solidFill>
          <a:ln/>
        </p:spPr>
      </p:sp>
      <p:sp>
        <p:nvSpPr>
          <p:cNvPr id="7" name="Text 5"/>
          <p:cNvSpPr/>
          <p:nvPr/>
        </p:nvSpPr>
        <p:spPr>
          <a:xfrm>
            <a:off x="502920" y="1874520"/>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hash</a:t>
            </a:r>
            <a:endParaRPr lang="en-US" sz="1000" dirty="0"/>
          </a:p>
        </p:txBody>
      </p:sp>
      <p:sp>
        <p:nvSpPr>
          <p:cNvPr id="8" name="Text 6"/>
          <p:cNvSpPr/>
          <p:nvPr/>
        </p:nvSpPr>
        <p:spPr>
          <a:xfrm>
            <a:off x="502920" y="2093976"/>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A short fingerprint of data. Change one letter and it changes completely.</a:t>
            </a:r>
            <a:endParaRPr lang="en-US" sz="1050" dirty="0"/>
          </a:p>
        </p:txBody>
      </p:sp>
      <p:sp>
        <p:nvSpPr>
          <p:cNvPr id="9" name="Shape 7"/>
          <p:cNvSpPr/>
          <p:nvPr/>
        </p:nvSpPr>
        <p:spPr>
          <a:xfrm>
            <a:off x="502920" y="2971800"/>
            <a:ext cx="5440680" cy="9144"/>
          </a:xfrm>
          <a:prstGeom prst="rect">
            <a:avLst/>
          </a:prstGeom>
          <a:solidFill>
            <a:srgbClr val="D2D8E0"/>
          </a:solidFill>
          <a:ln/>
        </p:spPr>
      </p:sp>
      <p:sp>
        <p:nvSpPr>
          <p:cNvPr id="10" name="Text 8"/>
          <p:cNvSpPr/>
          <p:nvPr/>
        </p:nvSpPr>
        <p:spPr>
          <a:xfrm>
            <a:off x="502920" y="2441448"/>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SHA-256</a:t>
            </a:r>
            <a:endParaRPr lang="en-US" sz="1000" dirty="0"/>
          </a:p>
        </p:txBody>
      </p:sp>
      <p:sp>
        <p:nvSpPr>
          <p:cNvPr id="11" name="Text 9"/>
          <p:cNvSpPr/>
          <p:nvPr/>
        </p:nvSpPr>
        <p:spPr>
          <a:xfrm>
            <a:off x="502920" y="2660904"/>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The specific fingerprinting method we use.</a:t>
            </a:r>
            <a:endParaRPr lang="en-US" sz="1050" dirty="0"/>
          </a:p>
        </p:txBody>
      </p:sp>
      <p:sp>
        <p:nvSpPr>
          <p:cNvPr id="12" name="Shape 10"/>
          <p:cNvSpPr/>
          <p:nvPr/>
        </p:nvSpPr>
        <p:spPr>
          <a:xfrm>
            <a:off x="502920" y="3538728"/>
            <a:ext cx="5440680" cy="9144"/>
          </a:xfrm>
          <a:prstGeom prst="rect">
            <a:avLst/>
          </a:prstGeom>
          <a:solidFill>
            <a:srgbClr val="D2D8E0"/>
          </a:solidFill>
          <a:ln/>
        </p:spPr>
      </p:sp>
      <p:sp>
        <p:nvSpPr>
          <p:cNvPr id="13" name="Text 11"/>
          <p:cNvSpPr/>
          <p:nvPr/>
        </p:nvSpPr>
        <p:spPr>
          <a:xfrm>
            <a:off x="502920" y="3008376"/>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signature</a:t>
            </a:r>
            <a:endParaRPr lang="en-US" sz="1000" dirty="0"/>
          </a:p>
        </p:txBody>
      </p:sp>
      <p:sp>
        <p:nvSpPr>
          <p:cNvPr id="14" name="Text 12"/>
          <p:cNvSpPr/>
          <p:nvPr/>
        </p:nvSpPr>
        <p:spPr>
          <a:xfrm>
            <a:off x="502920" y="3227832"/>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Proof that a device wrote a record, and that it hasn’t changed since.</a:t>
            </a:r>
            <a:endParaRPr lang="en-US" sz="1050" dirty="0"/>
          </a:p>
        </p:txBody>
      </p:sp>
      <p:sp>
        <p:nvSpPr>
          <p:cNvPr id="15" name="Shape 13"/>
          <p:cNvSpPr/>
          <p:nvPr/>
        </p:nvSpPr>
        <p:spPr>
          <a:xfrm>
            <a:off x="502920" y="4105656"/>
            <a:ext cx="5440680" cy="9144"/>
          </a:xfrm>
          <a:prstGeom prst="rect">
            <a:avLst/>
          </a:prstGeom>
          <a:solidFill>
            <a:srgbClr val="D2D8E0"/>
          </a:solidFill>
          <a:ln/>
        </p:spPr>
      </p:sp>
      <p:sp>
        <p:nvSpPr>
          <p:cNvPr id="16" name="Text 14"/>
          <p:cNvSpPr/>
          <p:nvPr/>
        </p:nvSpPr>
        <p:spPr>
          <a:xfrm>
            <a:off x="502920" y="3575304"/>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Ed25519</a:t>
            </a:r>
            <a:endParaRPr lang="en-US" sz="1000" dirty="0"/>
          </a:p>
        </p:txBody>
      </p:sp>
      <p:sp>
        <p:nvSpPr>
          <p:cNvPr id="17" name="Text 15"/>
          <p:cNvSpPr/>
          <p:nvPr/>
        </p:nvSpPr>
        <p:spPr>
          <a:xfrm>
            <a:off x="502920" y="3794760"/>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The signing method. Needs no randomness at signing time.</a:t>
            </a:r>
            <a:endParaRPr lang="en-US" sz="1050" dirty="0"/>
          </a:p>
        </p:txBody>
      </p:sp>
      <p:sp>
        <p:nvSpPr>
          <p:cNvPr id="18" name="Shape 16"/>
          <p:cNvSpPr/>
          <p:nvPr/>
        </p:nvSpPr>
        <p:spPr>
          <a:xfrm>
            <a:off x="502920" y="4672584"/>
            <a:ext cx="5440680" cy="9144"/>
          </a:xfrm>
          <a:prstGeom prst="rect">
            <a:avLst/>
          </a:prstGeom>
          <a:solidFill>
            <a:srgbClr val="D2D8E0"/>
          </a:solidFill>
          <a:ln/>
        </p:spPr>
      </p:sp>
      <p:sp>
        <p:nvSpPr>
          <p:cNvPr id="19" name="Text 17"/>
          <p:cNvSpPr/>
          <p:nvPr/>
        </p:nvSpPr>
        <p:spPr>
          <a:xfrm>
            <a:off x="502920" y="4142232"/>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hash chain</a:t>
            </a:r>
            <a:endParaRPr lang="en-US" sz="1000" dirty="0"/>
          </a:p>
        </p:txBody>
      </p:sp>
      <p:sp>
        <p:nvSpPr>
          <p:cNvPr id="20" name="Text 18"/>
          <p:cNvSpPr/>
          <p:nvPr/>
        </p:nvSpPr>
        <p:spPr>
          <a:xfrm>
            <a:off x="502920" y="4361688"/>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Records linked so each carries the fingerprint of the previous one.</a:t>
            </a:r>
            <a:endParaRPr lang="en-US" sz="1050" dirty="0"/>
          </a:p>
        </p:txBody>
      </p:sp>
      <p:sp>
        <p:nvSpPr>
          <p:cNvPr id="21" name="Shape 19"/>
          <p:cNvSpPr/>
          <p:nvPr/>
        </p:nvSpPr>
        <p:spPr>
          <a:xfrm>
            <a:off x="502920" y="5239512"/>
            <a:ext cx="5440680" cy="9144"/>
          </a:xfrm>
          <a:prstGeom prst="rect">
            <a:avLst/>
          </a:prstGeom>
          <a:solidFill>
            <a:srgbClr val="D2D8E0"/>
          </a:solidFill>
          <a:ln/>
        </p:spPr>
      </p:sp>
      <p:sp>
        <p:nvSpPr>
          <p:cNvPr id="22" name="Text 20"/>
          <p:cNvSpPr/>
          <p:nvPr/>
        </p:nvSpPr>
        <p:spPr>
          <a:xfrm>
            <a:off x="502920" y="4709160"/>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append-only</a:t>
            </a:r>
            <a:endParaRPr lang="en-US" sz="1000" dirty="0"/>
          </a:p>
        </p:txBody>
      </p:sp>
      <p:sp>
        <p:nvSpPr>
          <p:cNvPr id="23" name="Text 21"/>
          <p:cNvSpPr/>
          <p:nvPr/>
        </p:nvSpPr>
        <p:spPr>
          <a:xfrm>
            <a:off x="502920" y="4928616"/>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Records can be added but never edited or deleted.</a:t>
            </a:r>
            <a:endParaRPr lang="en-US" sz="1050" dirty="0"/>
          </a:p>
        </p:txBody>
      </p:sp>
      <p:sp>
        <p:nvSpPr>
          <p:cNvPr id="24" name="Shape 22"/>
          <p:cNvSpPr/>
          <p:nvPr/>
        </p:nvSpPr>
        <p:spPr>
          <a:xfrm>
            <a:off x="502920" y="5806440"/>
            <a:ext cx="5440680" cy="9144"/>
          </a:xfrm>
          <a:prstGeom prst="rect">
            <a:avLst/>
          </a:prstGeom>
          <a:solidFill>
            <a:srgbClr val="D2D8E0"/>
          </a:solidFill>
          <a:ln/>
        </p:spPr>
      </p:sp>
      <p:sp>
        <p:nvSpPr>
          <p:cNvPr id="25" name="Text 23"/>
          <p:cNvSpPr/>
          <p:nvPr/>
        </p:nvSpPr>
        <p:spPr>
          <a:xfrm>
            <a:off x="502920" y="5276088"/>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encryption (AEAD)</a:t>
            </a:r>
            <a:endParaRPr lang="en-US" sz="1000" dirty="0"/>
          </a:p>
        </p:txBody>
      </p:sp>
      <p:sp>
        <p:nvSpPr>
          <p:cNvPr id="26" name="Text 24"/>
          <p:cNvSpPr/>
          <p:nvPr/>
        </p:nvSpPr>
        <p:spPr>
          <a:xfrm>
            <a:off x="502920" y="5495544"/>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Scrambling data so it’s unreadable, and detecting tampering.</a:t>
            </a:r>
            <a:endParaRPr lang="en-US" sz="1050" dirty="0"/>
          </a:p>
        </p:txBody>
      </p:sp>
      <p:sp>
        <p:nvSpPr>
          <p:cNvPr id="27" name="Shape 25"/>
          <p:cNvSpPr/>
          <p:nvPr/>
        </p:nvSpPr>
        <p:spPr>
          <a:xfrm>
            <a:off x="502920" y="6373368"/>
            <a:ext cx="5440680" cy="9144"/>
          </a:xfrm>
          <a:prstGeom prst="rect">
            <a:avLst/>
          </a:prstGeom>
          <a:solidFill>
            <a:srgbClr val="D2D8E0"/>
          </a:solidFill>
          <a:ln/>
        </p:spPr>
      </p:sp>
      <p:sp>
        <p:nvSpPr>
          <p:cNvPr id="28" name="Text 26"/>
          <p:cNvSpPr/>
          <p:nvPr/>
        </p:nvSpPr>
        <p:spPr>
          <a:xfrm>
            <a:off x="502920" y="5843016"/>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Shamir sharing</a:t>
            </a:r>
            <a:endParaRPr lang="en-US" sz="1000" dirty="0"/>
          </a:p>
        </p:txBody>
      </p:sp>
      <p:sp>
        <p:nvSpPr>
          <p:cNvPr id="29" name="Text 27"/>
          <p:cNvSpPr/>
          <p:nvPr/>
        </p:nvSpPr>
        <p:spPr>
          <a:xfrm>
            <a:off x="502920" y="6062472"/>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Splitting a key so a set number of pieces rebuilds it.</a:t>
            </a:r>
            <a:endParaRPr lang="en-US" sz="1050" dirty="0"/>
          </a:p>
        </p:txBody>
      </p:sp>
      <p:sp>
        <p:nvSpPr>
          <p:cNvPr id="30" name="Shape 28"/>
          <p:cNvSpPr/>
          <p:nvPr/>
        </p:nvSpPr>
        <p:spPr>
          <a:xfrm>
            <a:off x="6217920" y="2404872"/>
            <a:ext cx="5440680" cy="9144"/>
          </a:xfrm>
          <a:prstGeom prst="rect">
            <a:avLst/>
          </a:prstGeom>
          <a:solidFill>
            <a:srgbClr val="D2D8E0"/>
          </a:solidFill>
          <a:ln/>
        </p:spPr>
      </p:sp>
      <p:sp>
        <p:nvSpPr>
          <p:cNvPr id="31" name="Text 29"/>
          <p:cNvSpPr/>
          <p:nvPr/>
        </p:nvSpPr>
        <p:spPr>
          <a:xfrm>
            <a:off x="6217920" y="1874520"/>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timelock</a:t>
            </a:r>
            <a:endParaRPr lang="en-US" sz="1000" dirty="0"/>
          </a:p>
        </p:txBody>
      </p:sp>
      <p:sp>
        <p:nvSpPr>
          <p:cNvPr id="32" name="Text 30"/>
          <p:cNvSpPr/>
          <p:nvPr/>
        </p:nvSpPr>
        <p:spPr>
          <a:xfrm>
            <a:off x="6217920" y="2093976"/>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Locking data so it cannot open before a future moment.</a:t>
            </a:r>
            <a:endParaRPr lang="en-US" sz="1050" dirty="0"/>
          </a:p>
        </p:txBody>
      </p:sp>
      <p:sp>
        <p:nvSpPr>
          <p:cNvPr id="33" name="Shape 31"/>
          <p:cNvSpPr/>
          <p:nvPr/>
        </p:nvSpPr>
        <p:spPr>
          <a:xfrm>
            <a:off x="6217920" y="2971800"/>
            <a:ext cx="5440680" cy="9144"/>
          </a:xfrm>
          <a:prstGeom prst="rect">
            <a:avLst/>
          </a:prstGeom>
          <a:solidFill>
            <a:srgbClr val="D2D8E0"/>
          </a:solidFill>
          <a:ln/>
        </p:spPr>
      </p:sp>
      <p:sp>
        <p:nvSpPr>
          <p:cNvPr id="34" name="Text 32"/>
          <p:cNvSpPr/>
          <p:nvPr/>
        </p:nvSpPr>
        <p:spPr>
          <a:xfrm>
            <a:off x="6217920" y="2441448"/>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geofence</a:t>
            </a:r>
            <a:endParaRPr lang="en-US" sz="1000" dirty="0"/>
          </a:p>
        </p:txBody>
      </p:sp>
      <p:sp>
        <p:nvSpPr>
          <p:cNvPr id="35" name="Text 33"/>
          <p:cNvSpPr/>
          <p:nvPr/>
        </p:nvSpPr>
        <p:spPr>
          <a:xfrm>
            <a:off x="6217920" y="2660904"/>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A check that the request came from inside the centre.</a:t>
            </a:r>
            <a:endParaRPr lang="en-US" sz="1050" dirty="0"/>
          </a:p>
        </p:txBody>
      </p:sp>
      <p:sp>
        <p:nvSpPr>
          <p:cNvPr id="36" name="Shape 34"/>
          <p:cNvSpPr/>
          <p:nvPr/>
        </p:nvSpPr>
        <p:spPr>
          <a:xfrm>
            <a:off x="6217920" y="3538728"/>
            <a:ext cx="5440680" cy="9144"/>
          </a:xfrm>
          <a:prstGeom prst="rect">
            <a:avLst/>
          </a:prstGeom>
          <a:solidFill>
            <a:srgbClr val="D2D8E0"/>
          </a:solidFill>
          <a:ln/>
        </p:spPr>
      </p:sp>
      <p:sp>
        <p:nvSpPr>
          <p:cNvPr id="37" name="Text 35"/>
          <p:cNvSpPr/>
          <p:nvPr/>
        </p:nvSpPr>
        <p:spPr>
          <a:xfrm>
            <a:off x="6217920" y="3008376"/>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custody epoch</a:t>
            </a:r>
            <a:endParaRPr lang="en-US" sz="1000" dirty="0"/>
          </a:p>
        </p:txBody>
      </p:sp>
      <p:sp>
        <p:nvSpPr>
          <p:cNvPr id="38" name="Text 36"/>
          <p:cNvSpPr/>
          <p:nvPr/>
        </p:nvSpPr>
        <p:spPr>
          <a:xfrm>
            <a:off x="6217920" y="3227832"/>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A key that only works for a six-hour window.</a:t>
            </a:r>
            <a:endParaRPr lang="en-US" sz="1050" dirty="0"/>
          </a:p>
        </p:txBody>
      </p:sp>
      <p:sp>
        <p:nvSpPr>
          <p:cNvPr id="39" name="Shape 37"/>
          <p:cNvSpPr/>
          <p:nvPr/>
        </p:nvSpPr>
        <p:spPr>
          <a:xfrm>
            <a:off x="6217920" y="4105656"/>
            <a:ext cx="5440680" cy="9144"/>
          </a:xfrm>
          <a:prstGeom prst="rect">
            <a:avLst/>
          </a:prstGeom>
          <a:solidFill>
            <a:srgbClr val="D2D8E0"/>
          </a:solidFill>
          <a:ln/>
        </p:spPr>
      </p:sp>
      <p:sp>
        <p:nvSpPr>
          <p:cNvPr id="40" name="Text 38"/>
          <p:cNvSpPr/>
          <p:nvPr/>
        </p:nvSpPr>
        <p:spPr>
          <a:xfrm>
            <a:off x="6217920" y="3575304"/>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heartbeat</a:t>
            </a:r>
            <a:endParaRPr lang="en-US" sz="1000" dirty="0"/>
          </a:p>
        </p:txBody>
      </p:sp>
      <p:sp>
        <p:nvSpPr>
          <p:cNvPr id="41" name="Text 39"/>
          <p:cNvSpPr/>
          <p:nvPr/>
        </p:nvSpPr>
        <p:spPr>
          <a:xfrm>
            <a:off x="6217920" y="3794760"/>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A regular “I’m still here” message; its absence is recorded.</a:t>
            </a:r>
            <a:endParaRPr lang="en-US" sz="1050" dirty="0"/>
          </a:p>
        </p:txBody>
      </p:sp>
      <p:sp>
        <p:nvSpPr>
          <p:cNvPr id="42" name="Shape 40"/>
          <p:cNvSpPr/>
          <p:nvPr/>
        </p:nvSpPr>
        <p:spPr>
          <a:xfrm>
            <a:off x="6217920" y="4672584"/>
            <a:ext cx="5440680" cy="9144"/>
          </a:xfrm>
          <a:prstGeom prst="rect">
            <a:avLst/>
          </a:prstGeom>
          <a:solidFill>
            <a:srgbClr val="D2D8E0"/>
          </a:solidFill>
          <a:ln/>
        </p:spPr>
      </p:sp>
      <p:sp>
        <p:nvSpPr>
          <p:cNvPr id="43" name="Text 41"/>
          <p:cNvSpPr/>
          <p:nvPr/>
        </p:nvSpPr>
        <p:spPr>
          <a:xfrm>
            <a:off x="6217920" y="4142232"/>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store-and-forward</a:t>
            </a:r>
            <a:endParaRPr lang="en-US" sz="1000" dirty="0"/>
          </a:p>
        </p:txBody>
      </p:sp>
      <p:sp>
        <p:nvSpPr>
          <p:cNvPr id="44" name="Text 42"/>
          <p:cNvSpPr/>
          <p:nvPr/>
        </p:nvSpPr>
        <p:spPr>
          <a:xfrm>
            <a:off x="6217920" y="4361688"/>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Write the record locally first, send it when the network allows.</a:t>
            </a:r>
            <a:endParaRPr lang="en-US" sz="1050" dirty="0"/>
          </a:p>
        </p:txBody>
      </p:sp>
      <p:sp>
        <p:nvSpPr>
          <p:cNvPr id="45" name="Shape 43"/>
          <p:cNvSpPr/>
          <p:nvPr/>
        </p:nvSpPr>
        <p:spPr>
          <a:xfrm>
            <a:off x="6217920" y="5239512"/>
            <a:ext cx="5440680" cy="9144"/>
          </a:xfrm>
          <a:prstGeom prst="rect">
            <a:avLst/>
          </a:prstGeom>
          <a:solidFill>
            <a:srgbClr val="D2D8E0"/>
          </a:solidFill>
          <a:ln/>
        </p:spPr>
      </p:sp>
      <p:sp>
        <p:nvSpPr>
          <p:cNvPr id="46" name="Text 44"/>
          <p:cNvSpPr/>
          <p:nvPr/>
        </p:nvSpPr>
        <p:spPr>
          <a:xfrm>
            <a:off x="6217920" y="4709160"/>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deny by default</a:t>
            </a:r>
            <a:endParaRPr lang="en-US" sz="1000" dirty="0"/>
          </a:p>
        </p:txBody>
      </p:sp>
      <p:sp>
        <p:nvSpPr>
          <p:cNvPr id="47" name="Text 45"/>
          <p:cNvSpPr/>
          <p:nvPr/>
        </p:nvSpPr>
        <p:spPr>
          <a:xfrm>
            <a:off x="6217920" y="4928616"/>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The answer starts at no; every check must positively pass.</a:t>
            </a:r>
            <a:endParaRPr lang="en-US" sz="1050" dirty="0"/>
          </a:p>
        </p:txBody>
      </p:sp>
      <p:sp>
        <p:nvSpPr>
          <p:cNvPr id="48" name="Shape 46"/>
          <p:cNvSpPr/>
          <p:nvPr/>
        </p:nvSpPr>
        <p:spPr>
          <a:xfrm>
            <a:off x="6217920" y="5806440"/>
            <a:ext cx="5440680" cy="9144"/>
          </a:xfrm>
          <a:prstGeom prst="rect">
            <a:avLst/>
          </a:prstGeom>
          <a:solidFill>
            <a:srgbClr val="D2D8E0"/>
          </a:solidFill>
          <a:ln/>
        </p:spPr>
      </p:sp>
      <p:sp>
        <p:nvSpPr>
          <p:cNvPr id="49" name="Text 47"/>
          <p:cNvSpPr/>
          <p:nvPr/>
        </p:nvSpPr>
        <p:spPr>
          <a:xfrm>
            <a:off x="6217920" y="5276088"/>
            <a:ext cx="5440680" cy="237744"/>
          </a:xfrm>
          <a:prstGeom prst="rect">
            <a:avLst/>
          </a:prstGeom>
          <a:noFill/>
          <a:ln/>
        </p:spPr>
        <p:txBody>
          <a:bodyPr wrap="square" lIns="0" tIns="0" rIns="0" bIns="0" rtlCol="0" anchor="ctr"/>
          <a:lstStyle/>
          <a:p>
            <a:pPr indent="0" marL="0">
              <a:buNone/>
            </a:pPr>
            <a:r>
              <a:rPr lang="en-US" sz="1000" b="1" dirty="0">
                <a:solidFill>
                  <a:srgbClr val="5B3490"/>
                </a:solidFill>
                <a:latin typeface="Courier New" pitchFamily="34" charset="0"/>
                <a:ea typeface="Courier New" pitchFamily="34" charset="-122"/>
                <a:cs typeface="Courier New" pitchFamily="34" charset="-120"/>
              </a:rPr>
              <a:t>Server-Sent Events</a:t>
            </a:r>
            <a:endParaRPr lang="en-US" sz="1000" dirty="0"/>
          </a:p>
        </p:txBody>
      </p:sp>
      <p:sp>
        <p:nvSpPr>
          <p:cNvPr id="50" name="Text 48"/>
          <p:cNvSpPr/>
          <p:nvPr/>
        </p:nvSpPr>
        <p:spPr>
          <a:xfrm>
            <a:off x="6217920" y="5495544"/>
            <a:ext cx="5440680" cy="292608"/>
          </a:xfrm>
          <a:prstGeom prst="rect">
            <a:avLst/>
          </a:prstGeom>
          <a:noFill/>
          <a:ln/>
        </p:spPr>
        <p:txBody>
          <a:bodyPr wrap="square" lIns="0" tIns="0" rIns="0" bIns="0" rtlCol="0" anchor="t"/>
          <a:lstStyle/>
          <a:p>
            <a:pPr indent="0" marL="0">
              <a:buNone/>
            </a:pPr>
            <a:r>
              <a:rPr lang="en-US" sz="1050" dirty="0">
                <a:solidFill>
                  <a:srgbClr val="3C4756"/>
                </a:solidFill>
                <a:latin typeface="Calibri" pitchFamily="34" charset="0"/>
                <a:ea typeface="Calibri" pitchFamily="34" charset="-122"/>
                <a:cs typeface="Calibri" pitchFamily="34" charset="-120"/>
              </a:rPr>
              <a:t>A one-way live feed so the control room updates without refreshing.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Mohar Walkthrough</dc:title>
  <dc:subject>PptxGenJS Presentation</dc:subject>
  <dc:creator>Mohar</dc:creator>
  <cp:lastModifiedBy>Mohar</cp:lastModifiedBy>
  <cp:revision>1</cp:revision>
  <dcterms:created xsi:type="dcterms:W3CDTF">2026-08-23T09:05:52Z</dcterms:created>
  <dcterms:modified xsi:type="dcterms:W3CDTF">2026-08-23T09:05:52Z</dcterms:modified>
</cp:coreProperties>
</file>